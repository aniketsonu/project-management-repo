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6" r:id="rId3"/>
    <p:sldId id="257" r:id="rId4"/>
    <p:sldId id="267" r:id="rId5"/>
    <p:sldId id="270" r:id="rId6"/>
    <p:sldId id="271" r:id="rId7"/>
    <p:sldId id="272" r:id="rId8"/>
    <p:sldId id="273" r:id="rId9"/>
    <p:sldId id="268" r:id="rId10"/>
    <p:sldId id="269" r:id="rId11"/>
    <p:sldId id="258" r:id="rId12"/>
    <p:sldId id="259" r:id="rId13"/>
    <p:sldId id="260" r:id="rId14"/>
    <p:sldId id="261"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94660"/>
  </p:normalViewPr>
  <p:slideViewPr>
    <p:cSldViewPr snapToGrid="0" snapToObjects="1">
      <p:cViewPr varScale="1">
        <p:scale>
          <a:sx n="107" d="100"/>
          <a:sy n="107" d="100"/>
        </p:scale>
        <p:origin x="1332"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5DDB-09CE-4C9F-92B2-FD2595DFA0B4}" type="datetimeFigureOut">
              <a:rPr lang="en-US" smtClean="0"/>
              <a:t>21-Jun-26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D5EB18-61C3-40B8-8580-EC6F410DBCAD}" type="slidenum">
              <a:rPr lang="en-US" smtClean="0"/>
              <a:t>‹#›</a:t>
            </a:fld>
            <a:endParaRPr lang="en-US"/>
          </a:p>
        </p:txBody>
      </p:sp>
    </p:spTree>
    <p:extLst>
      <p:ext uri="{BB962C8B-B14F-4D97-AF65-F5344CB8AC3E}">
        <p14:creationId xmlns:p14="http://schemas.microsoft.com/office/powerpoint/2010/main" val="3278725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20-Jun-26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20-Jun-26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20-Jun-26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20-Jun-26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20-Jun-26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20-Jun-26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20-Jun-26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github.com/AniketSonu/Project-Management-Repo"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hemeOverride" Target="../theme/themeOverride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br>
              <a:rPr lang="en-US" dirty="0"/>
            </a:br>
            <a:r>
              <a:rPr lang="en-US" dirty="0"/>
              <a:t>	 </a:t>
            </a:r>
            <a:r>
              <a:rPr lang="en-US" b="1" dirty="0"/>
              <a:t>GISMA University of Applied Sciences </a:t>
            </a:r>
            <a:br>
              <a:rPr lang="en-US" dirty="0"/>
            </a:br>
            <a:r>
              <a:rPr lang="en-US" sz="3600" dirty="0"/>
              <a:t>EcoPack Business Expansion in Germany</a:t>
            </a:r>
            <a:br>
              <a:rPr lang="en-US" sz="3600" dirty="0"/>
            </a:br>
            <a:endParaRPr sz="3600" b="1" dirty="0"/>
          </a:p>
        </p:txBody>
      </p:sp>
      <p:sp>
        <p:nvSpPr>
          <p:cNvPr id="3" name="Content Placeholder 2"/>
          <p:cNvSpPr>
            <a:spLocks noGrp="1"/>
          </p:cNvSpPr>
          <p:nvPr>
            <p:ph idx="1"/>
          </p:nvPr>
        </p:nvSpPr>
        <p:spPr>
          <a:xfrm>
            <a:off x="107576" y="2106706"/>
            <a:ext cx="8229600" cy="4476656"/>
          </a:xfrm>
        </p:spPr>
        <p:txBody>
          <a:bodyPr>
            <a:normAutofit/>
          </a:bodyPr>
          <a:lstStyle/>
          <a:p>
            <a:pPr marL="0" indent="0">
              <a:buNone/>
            </a:pPr>
            <a:r>
              <a:rPr dirty="0"/>
              <a:t>Project Management (M502)</a:t>
            </a:r>
            <a:endParaRPr lang="en-US" dirty="0"/>
          </a:p>
          <a:p>
            <a:endParaRPr lang="en-US" sz="1400" dirty="0"/>
          </a:p>
          <a:p>
            <a:pPr marL="0" indent="0">
              <a:buNone/>
            </a:pPr>
            <a:r>
              <a:rPr lang="en-US" sz="1400" b="1" dirty="0"/>
              <a:t>Submission Date:   26 – Jun – 2026    	  	  	  	  </a:t>
            </a:r>
            <a:endParaRPr lang="en-US" sz="1400" dirty="0"/>
          </a:p>
          <a:p>
            <a:pPr marL="0" indent="0">
              <a:buNone/>
            </a:pPr>
            <a:r>
              <a:rPr lang="en-US" sz="1400" b="1" dirty="0"/>
              <a:t>Submitted to:  PROF. Peter White </a:t>
            </a:r>
            <a:endParaRPr lang="en-US" sz="1400"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sz="1100" dirty="0"/>
          </a:p>
          <a:p>
            <a:pPr marL="0" indent="0">
              <a:buNone/>
            </a:pPr>
            <a:r>
              <a:rPr lang="en-US" sz="1100" dirty="0"/>
              <a:t>GitHub Project Link - </a:t>
            </a:r>
            <a:r>
              <a:rPr lang="en-US" sz="1100" u="sng" dirty="0" err="1">
                <a:hlinkClick r:id="rId2"/>
              </a:rPr>
              <a:t>AniketSonu</a:t>
            </a:r>
            <a:r>
              <a:rPr lang="en-US" sz="1100" u="sng" dirty="0">
                <a:hlinkClick r:id="rId2"/>
              </a:rPr>
              <a:t>/Project-Management-Repo: All Jira link and screen shots will add here\</a:t>
            </a:r>
            <a:endParaRPr lang="en-US" sz="1100" dirty="0"/>
          </a:p>
          <a:p>
            <a:pPr marL="0" indent="0">
              <a:buNone/>
            </a:pPr>
            <a:endParaRPr dirty="0"/>
          </a:p>
        </p:txBody>
      </p:sp>
      <p:pic>
        <p:nvPicPr>
          <p:cNvPr id="4" name="Picture 3">
            <a:extLst>
              <a:ext uri="{FF2B5EF4-FFF2-40B4-BE49-F238E27FC236}">
                <a16:creationId xmlns:a16="http://schemas.microsoft.com/office/drawing/2014/main" id="{1CA7EF5E-A48D-E991-2C9F-B3411EE64F1E}"/>
              </a:ext>
            </a:extLst>
          </p:cNvPr>
          <p:cNvPicPr/>
          <p:nvPr/>
        </p:nvPicPr>
        <p:blipFill>
          <a:blip r:embed="rId3"/>
          <a:stretch>
            <a:fillRect/>
          </a:stretch>
        </p:blipFill>
        <p:spPr>
          <a:xfrm>
            <a:off x="215153" y="92076"/>
            <a:ext cx="1095375" cy="1095375"/>
          </a:xfrm>
          <a:prstGeom prst="rect">
            <a:avLst/>
          </a:prstGeom>
        </p:spPr>
      </p:pic>
      <p:graphicFrame>
        <p:nvGraphicFramePr>
          <p:cNvPr id="7" name="Table 6">
            <a:extLst>
              <a:ext uri="{FF2B5EF4-FFF2-40B4-BE49-F238E27FC236}">
                <a16:creationId xmlns:a16="http://schemas.microsoft.com/office/drawing/2014/main" id="{A8C04C11-9128-FBFA-A108-E39D7B9F932B}"/>
              </a:ext>
            </a:extLst>
          </p:cNvPr>
          <p:cNvGraphicFramePr>
            <a:graphicFrameLocks noGrp="1"/>
          </p:cNvGraphicFramePr>
          <p:nvPr>
            <p:extLst>
              <p:ext uri="{D42A27DB-BD31-4B8C-83A1-F6EECF244321}">
                <p14:modId xmlns:p14="http://schemas.microsoft.com/office/powerpoint/2010/main" val="3679770175"/>
              </p:ext>
            </p:extLst>
          </p:nvPr>
        </p:nvGraphicFramePr>
        <p:xfrm>
          <a:off x="215153" y="3713881"/>
          <a:ext cx="5716270" cy="2109470"/>
        </p:xfrm>
        <a:graphic>
          <a:graphicData uri="http://schemas.openxmlformats.org/drawingml/2006/table">
            <a:tbl>
              <a:tblPr firstRow="1" firstCol="1" bandRow="1">
                <a:tableStyleId>{5C22544A-7EE6-4342-B048-85BDC9FD1C3A}</a:tableStyleId>
              </a:tblPr>
              <a:tblGrid>
                <a:gridCol w="5716270">
                  <a:extLst>
                    <a:ext uri="{9D8B030D-6E8A-4147-A177-3AD203B41FA5}">
                      <a16:colId xmlns:a16="http://schemas.microsoft.com/office/drawing/2014/main" val="3608123022"/>
                    </a:ext>
                  </a:extLst>
                </a:gridCol>
              </a:tblGrid>
              <a:tr h="431165">
                <a:tc>
                  <a:txBody>
                    <a:bodyPr/>
                    <a:lstStyle/>
                    <a:p>
                      <a:pPr marL="0" marR="0" algn="just">
                        <a:lnSpc>
                          <a:spcPct val="107000"/>
                        </a:lnSpc>
                        <a:spcAft>
                          <a:spcPts val="800"/>
                        </a:spcAft>
                        <a:buNone/>
                      </a:pPr>
                      <a:r>
                        <a:rPr lang="en-US" sz="1200" kern="100">
                          <a:effectLst/>
                        </a:rPr>
                        <a:t>Submitted by:   </a:t>
                      </a:r>
                      <a:endParaRPr lang="en-US"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0960" marR="73025" marT="0" marB="0" anchor="ctr"/>
                </a:tc>
                <a:extLst>
                  <a:ext uri="{0D108BD9-81ED-4DB2-BD59-A6C34878D82A}">
                    <a16:rowId xmlns:a16="http://schemas.microsoft.com/office/drawing/2014/main" val="2245329456"/>
                  </a:ext>
                </a:extLst>
              </a:tr>
              <a:tr h="419735">
                <a:tc>
                  <a:txBody>
                    <a:bodyPr/>
                    <a:lstStyle/>
                    <a:p>
                      <a:pPr marL="0" marR="0" algn="just">
                        <a:lnSpc>
                          <a:spcPct val="107000"/>
                        </a:lnSpc>
                        <a:spcAft>
                          <a:spcPts val="800"/>
                        </a:spcAft>
                        <a:buNone/>
                      </a:pPr>
                      <a:r>
                        <a:rPr lang="en-US" sz="1200" kern="100">
                          <a:effectLst/>
                        </a:rPr>
                        <a:t>Aniket Sonu - GH1048274  </a:t>
                      </a:r>
                      <a:endParaRPr lang="en-US"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0960" marR="73025" marT="0" marB="0" anchor="ctr"/>
                </a:tc>
                <a:extLst>
                  <a:ext uri="{0D108BD9-81ED-4DB2-BD59-A6C34878D82A}">
                    <a16:rowId xmlns:a16="http://schemas.microsoft.com/office/drawing/2014/main" val="1424081645"/>
                  </a:ext>
                </a:extLst>
              </a:tr>
              <a:tr h="419100">
                <a:tc>
                  <a:txBody>
                    <a:bodyPr/>
                    <a:lstStyle/>
                    <a:p>
                      <a:pPr marL="0" marR="0" algn="just">
                        <a:lnSpc>
                          <a:spcPct val="107000"/>
                        </a:lnSpc>
                        <a:spcAft>
                          <a:spcPts val="800"/>
                        </a:spcAft>
                        <a:buNone/>
                      </a:pPr>
                      <a:r>
                        <a:rPr lang="en-US" sz="1200" kern="100">
                          <a:effectLst/>
                        </a:rPr>
                        <a:t>Shravani Amit Borkar - GH1058569</a:t>
                      </a:r>
                      <a:endParaRPr lang="en-US"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0960" marR="73025" marT="0" marB="0" anchor="ctr"/>
                </a:tc>
                <a:extLst>
                  <a:ext uri="{0D108BD9-81ED-4DB2-BD59-A6C34878D82A}">
                    <a16:rowId xmlns:a16="http://schemas.microsoft.com/office/drawing/2014/main" val="432282882"/>
                  </a:ext>
                </a:extLst>
              </a:tr>
              <a:tr h="419100">
                <a:tc>
                  <a:txBody>
                    <a:bodyPr/>
                    <a:lstStyle/>
                    <a:p>
                      <a:pPr marL="0" marR="0" algn="just">
                        <a:lnSpc>
                          <a:spcPct val="107000"/>
                        </a:lnSpc>
                        <a:spcAft>
                          <a:spcPts val="800"/>
                        </a:spcAft>
                        <a:buNone/>
                      </a:pPr>
                      <a:r>
                        <a:rPr lang="en-US" sz="1200" kern="100">
                          <a:effectLst/>
                        </a:rPr>
                        <a:t>Sukhdeep Singh- GH1041755  </a:t>
                      </a:r>
                      <a:endParaRPr lang="en-US"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0960" marR="73025" marT="0" marB="0" anchor="ctr"/>
                </a:tc>
                <a:extLst>
                  <a:ext uri="{0D108BD9-81ED-4DB2-BD59-A6C34878D82A}">
                    <a16:rowId xmlns:a16="http://schemas.microsoft.com/office/drawing/2014/main" val="3980728864"/>
                  </a:ext>
                </a:extLst>
              </a:tr>
              <a:tr h="420370">
                <a:tc>
                  <a:txBody>
                    <a:bodyPr/>
                    <a:lstStyle/>
                    <a:p>
                      <a:pPr marL="0" marR="0" algn="just">
                        <a:lnSpc>
                          <a:spcPct val="107000"/>
                        </a:lnSpc>
                        <a:spcAft>
                          <a:spcPts val="800"/>
                        </a:spcAft>
                        <a:buNone/>
                      </a:pPr>
                      <a:r>
                        <a:rPr lang="en-US" sz="1200" kern="100" dirty="0">
                          <a:effectLst/>
                        </a:rPr>
                        <a:t>Heli Vijaybhai Kanpariya - GH1057191</a:t>
                      </a:r>
                      <a:endParaRPr lang="en-US" sz="11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960" marR="73025" marT="0" marB="0" anchor="ctr"/>
                </a:tc>
                <a:extLst>
                  <a:ext uri="{0D108BD9-81ED-4DB2-BD59-A6C34878D82A}">
                    <a16:rowId xmlns:a16="http://schemas.microsoft.com/office/drawing/2014/main" val="374581686"/>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2F804-3663-ED5D-6FFD-D7CC59BBCFE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863873CD-04FA-38F0-125C-C519AB715CA1}"/>
              </a:ext>
            </a:extLst>
          </p:cNvPr>
          <p:cNvSpPr>
            <a:spLocks noGrp="1"/>
          </p:cNvSpPr>
          <p:nvPr>
            <p:ph idx="1"/>
          </p:nvPr>
        </p:nvSpPr>
        <p:spPr/>
        <p:txBody>
          <a:bodyPr>
            <a:normAutofit fontScale="85000" lnSpcReduction="20000"/>
          </a:bodyPr>
          <a:lstStyle/>
          <a:p>
            <a:pPr marL="0" indent="0">
              <a:buNone/>
            </a:pPr>
            <a:r>
              <a:rPr lang="en-US" sz="1500" dirty="0"/>
              <a:t>This Presentation will demonstrate a project management plan for ECOPACK Business, a packaging company focused on producing environmentally friendly packaging products for restaurants, cafés, and food delivery businesses. This project objective is to expand the business in Germany within a </a:t>
            </a:r>
            <a:r>
              <a:rPr lang="en-US" sz="1500" b="1" dirty="0"/>
              <a:t>24-month project duration</a:t>
            </a:r>
            <a:r>
              <a:rPr lang="en-US" sz="1500" dirty="0"/>
              <a:t> and an allocated budget of </a:t>
            </a:r>
            <a:r>
              <a:rPr lang="en-US" sz="1500" b="1" dirty="0"/>
              <a:t>€900,000</a:t>
            </a:r>
            <a:r>
              <a:rPr lang="en-US" sz="1500" dirty="0"/>
              <a:t>.</a:t>
            </a:r>
          </a:p>
          <a:p>
            <a:pPr marL="0" indent="0">
              <a:buNone/>
            </a:pPr>
            <a:r>
              <a:rPr lang="en-US" sz="1500" dirty="0"/>
              <a:t>We include a pure agile project management methodology where all the digital platform development will happen to allow complete cloud-based operations and flexibility, iterative improvements, and customer feedback integration.</a:t>
            </a:r>
          </a:p>
          <a:p>
            <a:pPr marL="0" indent="0">
              <a:buNone/>
            </a:pPr>
            <a:r>
              <a:rPr lang="en-US" sz="1500" dirty="0"/>
              <a:t>The main purpose of the study is to develop a concrete project management plan for a business like EcoPack's expansion into the German market. In which we include investors, suppliers, employees, customers, technology developers, and government. Effective communication and stakeholder engagement strategies are required to manage expectations and maintain project.</a:t>
            </a:r>
          </a:p>
          <a:p>
            <a:pPr marL="0" indent="0">
              <a:buNone/>
            </a:pPr>
            <a:r>
              <a:rPr lang="en-US" sz="1500" b="1" dirty="0"/>
              <a:t>Structure of the Presentation</a:t>
            </a:r>
            <a:endParaRPr lang="en-US" sz="1500" dirty="0"/>
          </a:p>
          <a:p>
            <a:r>
              <a:rPr lang="en-US" sz="1500" dirty="0"/>
              <a:t>Project Overview and Objectives</a:t>
            </a:r>
          </a:p>
          <a:p>
            <a:r>
              <a:rPr lang="en-US" sz="1500" dirty="0"/>
              <a:t>Purpose of the Study</a:t>
            </a:r>
          </a:p>
          <a:p>
            <a:r>
              <a:rPr lang="en-US" sz="1500" dirty="0"/>
              <a:t>Project Scope and Key Milestones</a:t>
            </a:r>
          </a:p>
          <a:p>
            <a:r>
              <a:rPr lang="en-US" sz="1500" dirty="0"/>
              <a:t>Agile Project Management Approach</a:t>
            </a:r>
          </a:p>
          <a:p>
            <a:r>
              <a:rPr lang="en-US" sz="1500" dirty="0"/>
              <a:t>Cost Management and Resource Allocation</a:t>
            </a:r>
          </a:p>
          <a:p>
            <a:r>
              <a:rPr lang="en-US" sz="1500" dirty="0"/>
              <a:t>Stakeholder and Communication Management</a:t>
            </a:r>
          </a:p>
          <a:p>
            <a:r>
              <a:rPr lang="en-US" sz="1500" dirty="0"/>
              <a:t>Sustainability Strategy</a:t>
            </a:r>
          </a:p>
          <a:p>
            <a:r>
              <a:rPr lang="en-US" sz="1500" dirty="0"/>
              <a:t>Risk Management and Mitigation Plans</a:t>
            </a:r>
          </a:p>
          <a:p>
            <a:r>
              <a:rPr lang="en-US" sz="1500" dirty="0"/>
              <a:t>Market Expansion Strategy</a:t>
            </a:r>
          </a:p>
          <a:p>
            <a:r>
              <a:rPr lang="en-US" sz="1500" dirty="0"/>
              <a:t>Critical Evaluation and Reflection</a:t>
            </a:r>
          </a:p>
          <a:p>
            <a:r>
              <a:rPr lang="en-US" sz="1400" dirty="0"/>
              <a:t>Conclusion and Recommendations</a:t>
            </a:r>
          </a:p>
          <a:p>
            <a:pPr marL="0" indent="0">
              <a:buNone/>
            </a:pPr>
            <a:endParaRPr lang="en-US" sz="1400" dirty="0"/>
          </a:p>
        </p:txBody>
      </p:sp>
      <p:pic>
        <p:nvPicPr>
          <p:cNvPr id="4" name="Picture 3">
            <a:extLst>
              <a:ext uri="{FF2B5EF4-FFF2-40B4-BE49-F238E27FC236}">
                <a16:creationId xmlns:a16="http://schemas.microsoft.com/office/drawing/2014/main" id="{130BC508-7BB7-87DF-5AC4-A66532CDB09A}"/>
              </a:ext>
            </a:extLst>
          </p:cNvPr>
          <p:cNvPicPr/>
          <p:nvPr/>
        </p:nvPicPr>
        <p:blipFill>
          <a:blip r:embed="rId2"/>
          <a:stretch>
            <a:fillRect/>
          </a:stretch>
        </p:blipFill>
        <p:spPr>
          <a:xfrm>
            <a:off x="215153" y="184149"/>
            <a:ext cx="1095375" cy="1095375"/>
          </a:xfrm>
          <a:prstGeom prst="rect">
            <a:avLst/>
          </a:prstGeom>
        </p:spPr>
      </p:pic>
    </p:spTree>
    <p:extLst>
      <p:ext uri="{BB962C8B-B14F-4D97-AF65-F5344CB8AC3E}">
        <p14:creationId xmlns:p14="http://schemas.microsoft.com/office/powerpoint/2010/main" val="1479198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9409"/>
          </a:xfrm>
        </p:spPr>
        <p:txBody>
          <a:bodyPr>
            <a:normAutofit fontScale="90000"/>
          </a:bodyPr>
          <a:lstStyle/>
          <a:p>
            <a:r>
              <a:rPr dirty="0"/>
              <a:t>Project Overview</a:t>
            </a:r>
          </a:p>
        </p:txBody>
      </p:sp>
      <p:sp>
        <p:nvSpPr>
          <p:cNvPr id="3" name="Content Placeholder 2"/>
          <p:cNvSpPr>
            <a:spLocks noGrp="1"/>
          </p:cNvSpPr>
          <p:nvPr>
            <p:ph idx="1"/>
          </p:nvPr>
        </p:nvSpPr>
        <p:spPr>
          <a:xfrm>
            <a:off x="457200" y="1370014"/>
            <a:ext cx="8229600" cy="4756150"/>
          </a:xfrm>
        </p:spPr>
        <p:txBody>
          <a:bodyPr>
            <a:normAutofit/>
          </a:bodyPr>
          <a:lstStyle/>
          <a:p>
            <a:r>
              <a:rPr lang="en-US" sz="1400" dirty="0"/>
              <a:t>Ecopack is a packaging company that operates on delivering workable, innovative, and environment friendly packaging solutions. As global demand for eco-friendly products continues to increase, expanding operations into Germany makes a strategically important growth initiative for the company.</a:t>
            </a:r>
          </a:p>
          <a:p>
            <a:r>
              <a:rPr lang="en-US" sz="1400" dirty="0"/>
              <a:t>The scope of this project is to establish Ecopack’s business in Germany through market entry planning, regulatory compliance, operational setup, partnership development, and customer purchase. This project will analyze the market opportunities, identify key industries and customers, to develop a best strategy to enter in market with alignment of Germany’s trade policies.</a:t>
            </a:r>
          </a:p>
          <a:p>
            <a:r>
              <a:rPr lang="en-US" sz="1400" dirty="0"/>
              <a:t>Agile also has certain limitations. Continuous stakeholder involvement requires significant time and commitment from users and project sponsors. In addition, frequent changes in requirements may create challenges in cost estimation and long-term planning. Agile projects can also experience scope expansion if changes are not managed </a:t>
            </a:r>
            <a:r>
              <a:rPr lang="en-US" sz="1400" dirty="0" err="1"/>
              <a:t>carefully.However</a:t>
            </a:r>
            <a:r>
              <a:rPr lang="en-US" sz="1400" dirty="0"/>
              <a:t>, these limitations can be mitigated through effective sprint planning, prioritization of requirements, and regular communication between stakeholders and the project team.</a:t>
            </a:r>
          </a:p>
        </p:txBody>
      </p:sp>
      <p:pic>
        <p:nvPicPr>
          <p:cNvPr id="4" name="Picture 3">
            <a:extLst>
              <a:ext uri="{FF2B5EF4-FFF2-40B4-BE49-F238E27FC236}">
                <a16:creationId xmlns:a16="http://schemas.microsoft.com/office/drawing/2014/main" id="{A22FB09C-CC15-8366-A775-125C73EBFA5E}"/>
              </a:ext>
            </a:extLst>
          </p:cNvPr>
          <p:cNvPicPr/>
          <p:nvPr/>
        </p:nvPicPr>
        <p:blipFill>
          <a:blip r:embed="rId2"/>
          <a:stretch>
            <a:fillRect/>
          </a:stretch>
        </p:blipFill>
        <p:spPr>
          <a:xfrm>
            <a:off x="215153" y="92076"/>
            <a:ext cx="1095375" cy="1095375"/>
          </a:xfrm>
          <a:prstGeom prst="rect">
            <a:avLst/>
          </a:prstGeom>
        </p:spPr>
      </p:pic>
      <p:graphicFrame>
        <p:nvGraphicFramePr>
          <p:cNvPr id="5" name="Table 4">
            <a:extLst>
              <a:ext uri="{FF2B5EF4-FFF2-40B4-BE49-F238E27FC236}">
                <a16:creationId xmlns:a16="http://schemas.microsoft.com/office/drawing/2014/main" id="{1BEE7DBA-B303-4A1B-A1D6-8AFDDD1B6A6C}"/>
              </a:ext>
            </a:extLst>
          </p:cNvPr>
          <p:cNvGraphicFramePr>
            <a:graphicFrameLocks noGrp="1"/>
          </p:cNvGraphicFramePr>
          <p:nvPr>
            <p:extLst>
              <p:ext uri="{D42A27DB-BD31-4B8C-83A1-F6EECF244321}">
                <p14:modId xmlns:p14="http://schemas.microsoft.com/office/powerpoint/2010/main" val="3706190896"/>
              </p:ext>
            </p:extLst>
          </p:nvPr>
        </p:nvGraphicFramePr>
        <p:xfrm>
          <a:off x="537882" y="4465691"/>
          <a:ext cx="8229600" cy="1442847"/>
        </p:xfrm>
        <a:graphic>
          <a:graphicData uri="http://schemas.openxmlformats.org/drawingml/2006/table">
            <a:tbl>
              <a:tblPr firstRow="1" firstCol="1" bandRow="1">
                <a:tableStyleId>{5C22544A-7EE6-4342-B048-85BDC9FD1C3A}</a:tableStyleId>
              </a:tblPr>
              <a:tblGrid>
                <a:gridCol w="4114800">
                  <a:extLst>
                    <a:ext uri="{9D8B030D-6E8A-4147-A177-3AD203B41FA5}">
                      <a16:colId xmlns:a16="http://schemas.microsoft.com/office/drawing/2014/main" val="100352171"/>
                    </a:ext>
                  </a:extLst>
                </a:gridCol>
                <a:gridCol w="4114800">
                  <a:extLst>
                    <a:ext uri="{9D8B030D-6E8A-4147-A177-3AD203B41FA5}">
                      <a16:colId xmlns:a16="http://schemas.microsoft.com/office/drawing/2014/main" val="297150484"/>
                    </a:ext>
                  </a:extLst>
                </a:gridCol>
              </a:tblGrid>
              <a:tr h="0">
                <a:tc>
                  <a:txBody>
                    <a:bodyPr/>
                    <a:lstStyle/>
                    <a:p>
                      <a:pPr marL="0" marR="0" algn="just">
                        <a:lnSpc>
                          <a:spcPct val="107000"/>
                        </a:lnSpc>
                        <a:spcAft>
                          <a:spcPts val="800"/>
                        </a:spcAft>
                        <a:buNone/>
                      </a:pPr>
                      <a:r>
                        <a:rPr lang="en-US" sz="1200">
                          <a:effectLst/>
                        </a:rPr>
                        <a:t>Objective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gn="just">
                        <a:lnSpc>
                          <a:spcPct val="107000"/>
                        </a:lnSpc>
                        <a:spcAft>
                          <a:spcPts val="800"/>
                        </a:spcAft>
                        <a:buNone/>
                      </a:pPr>
                      <a:r>
                        <a:rPr lang="en-US" sz="1200">
                          <a:effectLst/>
                        </a:rPr>
                        <a:t>Measurement Target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75294232"/>
                  </a:ext>
                </a:extLst>
              </a:tr>
              <a:tr h="0">
                <a:tc>
                  <a:txBody>
                    <a:bodyPr/>
                    <a:lstStyle/>
                    <a:p>
                      <a:pPr marL="0" marR="0" algn="just">
                        <a:lnSpc>
                          <a:spcPct val="107000"/>
                        </a:lnSpc>
                        <a:spcAft>
                          <a:spcPts val="800"/>
                        </a:spcAft>
                        <a:buNone/>
                      </a:pPr>
                      <a:r>
                        <a:rPr lang="en-US" sz="1200">
                          <a:effectLst/>
                        </a:rPr>
                        <a:t>Complete manufacturing facility setup</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gn="just">
                        <a:lnSpc>
                          <a:spcPct val="107000"/>
                        </a:lnSpc>
                        <a:spcAft>
                          <a:spcPts val="800"/>
                        </a:spcAft>
                        <a:buNone/>
                      </a:pPr>
                      <a:r>
                        <a:rPr lang="en-US" sz="1200">
                          <a:effectLst/>
                        </a:rPr>
                        <a:t>By Month 6</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35659527"/>
                  </a:ext>
                </a:extLst>
              </a:tr>
              <a:tr h="0">
                <a:tc>
                  <a:txBody>
                    <a:bodyPr/>
                    <a:lstStyle/>
                    <a:p>
                      <a:pPr marL="0" marR="0" algn="just">
                        <a:lnSpc>
                          <a:spcPct val="107000"/>
                        </a:lnSpc>
                        <a:spcAft>
                          <a:spcPts val="800"/>
                        </a:spcAft>
                        <a:buNone/>
                      </a:pPr>
                      <a:r>
                        <a:rPr lang="en-US" sz="1200">
                          <a:effectLst/>
                        </a:rPr>
                        <a:t>Develop and launch digital ordering platform</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gn="just">
                        <a:lnSpc>
                          <a:spcPct val="107000"/>
                        </a:lnSpc>
                        <a:spcAft>
                          <a:spcPts val="800"/>
                        </a:spcAft>
                        <a:buNone/>
                      </a:pPr>
                      <a:r>
                        <a:rPr lang="en-US" sz="1200">
                          <a:effectLst/>
                        </a:rPr>
                        <a:t>By Month 12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92378656"/>
                  </a:ext>
                </a:extLst>
              </a:tr>
              <a:tr h="0">
                <a:tc>
                  <a:txBody>
                    <a:bodyPr/>
                    <a:lstStyle/>
                    <a:p>
                      <a:pPr marL="0" marR="0" algn="just">
                        <a:lnSpc>
                          <a:spcPct val="107000"/>
                        </a:lnSpc>
                        <a:spcAft>
                          <a:spcPts val="800"/>
                        </a:spcAft>
                        <a:buNone/>
                      </a:pPr>
                      <a:r>
                        <a:rPr lang="en-US" sz="1200">
                          <a:effectLst/>
                        </a:rPr>
                        <a:t>Recruit operational workforce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gn="just">
                        <a:lnSpc>
                          <a:spcPct val="107000"/>
                        </a:lnSpc>
                        <a:spcAft>
                          <a:spcPts val="800"/>
                        </a:spcAft>
                        <a:buNone/>
                      </a:pPr>
                      <a:r>
                        <a:rPr lang="en-US" sz="1200">
                          <a:effectLst/>
                        </a:rPr>
                        <a:t>25 employees by Month 15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91435215"/>
                  </a:ext>
                </a:extLst>
              </a:tr>
              <a:tr h="0">
                <a:tc>
                  <a:txBody>
                    <a:bodyPr/>
                    <a:lstStyle/>
                    <a:p>
                      <a:pPr marL="0" marR="0" algn="just">
                        <a:lnSpc>
                          <a:spcPct val="107000"/>
                        </a:lnSpc>
                        <a:spcAft>
                          <a:spcPts val="800"/>
                        </a:spcAft>
                        <a:buNone/>
                      </a:pPr>
                      <a:r>
                        <a:rPr lang="en-US" sz="1200">
                          <a:effectLst/>
                        </a:rPr>
                        <a:t>Acquire initial customer base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gn="just">
                        <a:lnSpc>
                          <a:spcPct val="107000"/>
                        </a:lnSpc>
                        <a:spcAft>
                          <a:spcPts val="800"/>
                        </a:spcAft>
                        <a:buNone/>
                      </a:pPr>
                      <a:r>
                        <a:rPr lang="en-US" sz="1200">
                          <a:effectLst/>
                        </a:rPr>
                        <a:t>100 business customers within 6 months after launch</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21576656"/>
                  </a:ext>
                </a:extLst>
              </a:tr>
              <a:tr h="0">
                <a:tc>
                  <a:txBody>
                    <a:bodyPr/>
                    <a:lstStyle/>
                    <a:p>
                      <a:pPr marL="0" marR="0" algn="just">
                        <a:lnSpc>
                          <a:spcPct val="107000"/>
                        </a:lnSpc>
                        <a:spcAft>
                          <a:spcPts val="800"/>
                        </a:spcAft>
                        <a:buNone/>
                      </a:pPr>
                      <a:r>
                        <a:rPr lang="en-US" sz="1200">
                          <a:effectLst/>
                        </a:rPr>
                        <a:t>Maintain budget performance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gn="just">
                        <a:lnSpc>
                          <a:spcPct val="107000"/>
                        </a:lnSpc>
                        <a:spcAft>
                          <a:spcPts val="800"/>
                        </a:spcAft>
                        <a:buNone/>
                      </a:pPr>
                      <a:r>
                        <a:rPr lang="en-US" sz="1200">
                          <a:effectLst/>
                        </a:rPr>
                        <a:t>Remain within €900,000 budget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06713774"/>
                  </a:ext>
                </a:extLst>
              </a:tr>
              <a:tr h="0">
                <a:tc>
                  <a:txBody>
                    <a:bodyPr/>
                    <a:lstStyle/>
                    <a:p>
                      <a:pPr marL="0" marR="0" algn="just">
                        <a:lnSpc>
                          <a:spcPct val="107000"/>
                        </a:lnSpc>
                        <a:spcAft>
                          <a:spcPts val="800"/>
                        </a:spcAft>
                        <a:buNone/>
                      </a:pPr>
                      <a:r>
                        <a:rPr lang="en-US" sz="1200">
                          <a:effectLst/>
                        </a:rPr>
                        <a:t>Achieve production readiness</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gn="just">
                        <a:lnSpc>
                          <a:spcPct val="107000"/>
                        </a:lnSpc>
                        <a:spcAft>
                          <a:spcPts val="800"/>
                        </a:spcAft>
                        <a:buNone/>
                      </a:pPr>
                      <a:r>
                        <a:rPr lang="en-US" sz="1200" dirty="0">
                          <a:effectLst/>
                        </a:rPr>
                        <a:t>Full operational status by Month 20</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4487845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9AB10-829E-1B55-8AC7-C2A03B71DE2C}"/>
              </a:ext>
            </a:extLst>
          </p:cNvPr>
          <p:cNvSpPr>
            <a:spLocks noGrp="1"/>
          </p:cNvSpPr>
          <p:nvPr>
            <p:ph type="title"/>
          </p:nvPr>
        </p:nvSpPr>
        <p:spPr>
          <a:xfrm>
            <a:off x="457200" y="274638"/>
            <a:ext cx="8229600" cy="845950"/>
          </a:xfrm>
        </p:spPr>
        <p:txBody>
          <a:bodyPr/>
          <a:lstStyle/>
          <a:p>
            <a:r>
              <a:rPr lang="en-US" dirty="0"/>
              <a:t>Strategic Relevance</a:t>
            </a:r>
          </a:p>
        </p:txBody>
      </p:sp>
      <p:sp>
        <p:nvSpPr>
          <p:cNvPr id="3" name="Content Placeholder 2">
            <a:extLst>
              <a:ext uri="{FF2B5EF4-FFF2-40B4-BE49-F238E27FC236}">
                <a16:creationId xmlns:a16="http://schemas.microsoft.com/office/drawing/2014/main" id="{C0B58E6D-32AF-F3E6-0786-E30475022A8E}"/>
              </a:ext>
            </a:extLst>
          </p:cNvPr>
          <p:cNvSpPr>
            <a:spLocks noGrp="1"/>
          </p:cNvSpPr>
          <p:nvPr>
            <p:ph idx="1"/>
          </p:nvPr>
        </p:nvSpPr>
        <p:spPr>
          <a:xfrm>
            <a:off x="457200" y="1303150"/>
            <a:ext cx="8229600" cy="4823013"/>
          </a:xfrm>
        </p:spPr>
        <p:txBody>
          <a:bodyPr>
            <a:normAutofit/>
          </a:bodyPr>
          <a:lstStyle/>
          <a:p>
            <a:pPr marL="0" indent="0">
              <a:buNone/>
            </a:pPr>
            <a:r>
              <a:rPr lang="en-US" sz="1400" dirty="0"/>
              <a:t>EcoPack becoming a leading provider for food packaging service.</a:t>
            </a:r>
          </a:p>
          <a:p>
            <a:pPr marL="0" indent="0">
              <a:buNone/>
            </a:pPr>
            <a:r>
              <a:rPr lang="en-US" sz="1400" dirty="0"/>
              <a:t>Company's international expansion and digital transformation goals.</a:t>
            </a:r>
          </a:p>
          <a:p>
            <a:pPr marL="0" indent="0">
              <a:buNone/>
            </a:pPr>
            <a:r>
              <a:rPr lang="en-US" sz="1400" dirty="0"/>
              <a:t>EcoPack's commitment to environmental sustainability and innovation.</a:t>
            </a:r>
          </a:p>
          <a:p>
            <a:endParaRPr lang="en-US" sz="1400" dirty="0"/>
          </a:p>
          <a:p>
            <a:pPr marL="0" indent="0">
              <a:buNone/>
            </a:pPr>
            <a:r>
              <a:rPr lang="en-US" sz="1400" b="1" dirty="0"/>
              <a:t>Value Proposition</a:t>
            </a:r>
          </a:p>
          <a:p>
            <a:pPr marL="0" indent="0">
              <a:buNone/>
            </a:pPr>
            <a:r>
              <a:rPr lang="en-US" sz="1400" dirty="0"/>
              <a:t>Provides environment-friendly packaging to restaurants, cafés, and food delivery businesses.</a:t>
            </a:r>
          </a:p>
          <a:p>
            <a:pPr marL="0" indent="0">
              <a:buNone/>
            </a:pPr>
            <a:r>
              <a:rPr lang="en-US" sz="1400" dirty="0"/>
              <a:t>Customer experience through a digital ordering platform.</a:t>
            </a:r>
          </a:p>
          <a:p>
            <a:pPr marL="0" indent="0">
              <a:buNone/>
            </a:pPr>
            <a:endParaRPr lang="en-US" sz="1400" dirty="0"/>
          </a:p>
          <a:p>
            <a:pPr marL="0" indent="0">
              <a:buNone/>
            </a:pPr>
            <a:r>
              <a:rPr lang="en-US" sz="1400" b="1" dirty="0"/>
              <a:t>Expected Impact</a:t>
            </a:r>
          </a:p>
          <a:p>
            <a:pPr marL="0" indent="0">
              <a:buNone/>
            </a:pPr>
            <a:r>
              <a:rPr lang="en-US" sz="1400" dirty="0"/>
              <a:t>Establishes a strong market presence in Germany, one of Europe's largest economies.</a:t>
            </a:r>
          </a:p>
          <a:p>
            <a:pPr marL="0" indent="0">
              <a:buNone/>
            </a:pPr>
            <a:r>
              <a:rPr lang="en-US" sz="1400" dirty="0"/>
              <a:t>Brand Recognition, global expansion, customer satisfaction and revenue growth. </a:t>
            </a:r>
          </a:p>
          <a:p>
            <a:pPr marL="0" indent="0">
              <a:buNone/>
            </a:pPr>
            <a:endParaRPr lang="en-US" sz="1400" b="1" dirty="0"/>
          </a:p>
        </p:txBody>
      </p:sp>
      <p:pic>
        <p:nvPicPr>
          <p:cNvPr id="4" name="Picture 3">
            <a:extLst>
              <a:ext uri="{FF2B5EF4-FFF2-40B4-BE49-F238E27FC236}">
                <a16:creationId xmlns:a16="http://schemas.microsoft.com/office/drawing/2014/main" id="{90793145-F869-040C-6D4B-DCD0DD617159}"/>
              </a:ext>
            </a:extLst>
          </p:cNvPr>
          <p:cNvPicPr/>
          <p:nvPr/>
        </p:nvPicPr>
        <p:blipFill>
          <a:blip r:embed="rId3"/>
          <a:stretch>
            <a:fillRect/>
          </a:stretch>
        </p:blipFill>
        <p:spPr>
          <a:xfrm>
            <a:off x="215153" y="92076"/>
            <a:ext cx="1095375" cy="1095375"/>
          </a:xfrm>
          <a:prstGeom prst="rect">
            <a:avLst/>
          </a:prstGeom>
        </p:spPr>
      </p:pic>
    </p:spTree>
    <p:extLst>
      <p:ext uri="{BB962C8B-B14F-4D97-AF65-F5344CB8AC3E}">
        <p14:creationId xmlns:p14="http://schemas.microsoft.com/office/powerpoint/2010/main" val="340958399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1643400" y="92075"/>
            <a:ext cx="70434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3600" b="1">
                <a:solidFill>
                  <a:schemeClr val="dk1"/>
                </a:solidFill>
              </a:rPr>
              <a:t>Work Breakdown Structure (WBS)</a:t>
            </a:r>
            <a:endParaRPr sz="3600" b="1"/>
          </a:p>
        </p:txBody>
      </p:sp>
      <p:sp>
        <p:nvSpPr>
          <p:cNvPr id="92" name="Google Shape;92;p14"/>
          <p:cNvSpPr txBox="1">
            <a:spLocks noGrp="1"/>
          </p:cNvSpPr>
          <p:nvPr>
            <p:ph type="body" idx="1"/>
          </p:nvPr>
        </p:nvSpPr>
        <p:spPr>
          <a:xfrm>
            <a:off x="215150" y="1532325"/>
            <a:ext cx="2882100" cy="5167800"/>
          </a:xfrm>
          <a:prstGeom prst="rect">
            <a:avLst/>
          </a:prstGeom>
          <a:noFill/>
          <a:ln>
            <a:noFill/>
          </a:ln>
        </p:spPr>
        <p:txBody>
          <a:bodyPr spcFirstLastPara="1" wrap="square" lIns="91425" tIns="45700" rIns="91425" bIns="45700" anchor="t" anchorCtr="0">
            <a:normAutofit/>
          </a:bodyPr>
          <a:lstStyle/>
          <a:p>
            <a:pPr marL="342900" lvl="0" indent="-393700" algn="l" rtl="0">
              <a:spcBef>
                <a:spcPts val="640"/>
              </a:spcBef>
              <a:spcAft>
                <a:spcPts val="0"/>
              </a:spcAft>
              <a:buSzPts val="2600"/>
              <a:buChar char="•"/>
            </a:pPr>
            <a:r>
              <a:rPr lang="en-US" sz="2600"/>
              <a:t>Jira WBS for managing Epics, Tasks, and Subtasks.</a:t>
            </a:r>
            <a:endParaRPr sz="2600"/>
          </a:p>
          <a:p>
            <a:pPr marL="342900" lvl="0" indent="0" algn="l" rtl="0">
              <a:spcBef>
                <a:spcPts val="640"/>
              </a:spcBef>
              <a:spcAft>
                <a:spcPts val="0"/>
              </a:spcAft>
              <a:buNone/>
            </a:pPr>
            <a:endParaRPr sz="2600"/>
          </a:p>
          <a:p>
            <a:pPr marL="342900" lvl="0" indent="-393700" algn="l" rtl="0">
              <a:spcBef>
                <a:spcPts val="640"/>
              </a:spcBef>
              <a:spcAft>
                <a:spcPts val="0"/>
              </a:spcAft>
              <a:buSzPts val="2600"/>
              <a:buChar char="•"/>
            </a:pPr>
            <a:r>
              <a:rPr lang="en-US" sz="2600"/>
              <a:t>Project Structure involves Initiating, Planning, Developing, Expanding, and Closing phases.</a:t>
            </a:r>
            <a:endParaRPr sz="2600"/>
          </a:p>
          <a:p>
            <a:pPr marL="0" lvl="0" indent="0" algn="l" rtl="0">
              <a:spcBef>
                <a:spcPts val="640"/>
              </a:spcBef>
              <a:spcAft>
                <a:spcPts val="0"/>
              </a:spcAft>
              <a:buNone/>
            </a:pPr>
            <a:endParaRPr sz="2600"/>
          </a:p>
        </p:txBody>
      </p:sp>
      <p:pic>
        <p:nvPicPr>
          <p:cNvPr id="93" name="Google Shape;93;p14" descr="atlassian-net-jira-software-projects-KAN-summary.png"/>
          <p:cNvPicPr preferRelativeResize="0"/>
          <p:nvPr/>
        </p:nvPicPr>
        <p:blipFill rotWithShape="1">
          <a:blip r:embed="rId3">
            <a:alphaModFix/>
          </a:blip>
          <a:srcRect/>
          <a:stretch/>
        </p:blipFill>
        <p:spPr>
          <a:xfrm>
            <a:off x="3162040" y="1417652"/>
            <a:ext cx="5981962" cy="5440350"/>
          </a:xfrm>
          <a:prstGeom prst="rect">
            <a:avLst/>
          </a:prstGeom>
          <a:noFill/>
          <a:ln>
            <a:noFill/>
          </a:ln>
        </p:spPr>
      </p:pic>
      <p:pic>
        <p:nvPicPr>
          <p:cNvPr id="94" name="Google Shape;94;p14"/>
          <p:cNvPicPr preferRelativeResize="0"/>
          <p:nvPr/>
        </p:nvPicPr>
        <p:blipFill rotWithShape="1">
          <a:blip r:embed="rId4">
            <a:alphaModFix/>
          </a:blip>
          <a:srcRect/>
          <a:stretch/>
        </p:blipFill>
        <p:spPr>
          <a:xfrm>
            <a:off x="3" y="-81724"/>
            <a:ext cx="1095375" cy="1095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5"/>
          <p:cNvSpPr txBox="1">
            <a:spLocks noGrp="1"/>
          </p:cNvSpPr>
          <p:nvPr>
            <p:ph type="title"/>
          </p:nvPr>
        </p:nvSpPr>
        <p:spPr>
          <a:xfrm>
            <a:off x="481275" y="274650"/>
            <a:ext cx="8662800" cy="1095300"/>
          </a:xfrm>
          <a:prstGeom prst="rect">
            <a:avLst/>
          </a:prstGeom>
          <a:noFill/>
          <a:ln>
            <a:noFill/>
          </a:ln>
        </p:spPr>
        <p:txBody>
          <a:bodyPr spcFirstLastPara="1" wrap="square" lIns="91425" tIns="45700" rIns="91425" bIns="45700" anchor="ctr" anchorCtr="0">
            <a:normAutofit/>
          </a:bodyPr>
          <a:lstStyle/>
          <a:p>
            <a:pPr marL="1371600" lvl="0" indent="457200" algn="l" rtl="0">
              <a:spcBef>
                <a:spcPts val="0"/>
              </a:spcBef>
              <a:spcAft>
                <a:spcPts val="0"/>
              </a:spcAft>
              <a:buClr>
                <a:schemeClr val="dk1"/>
              </a:buClr>
              <a:buSzPts val="4400"/>
              <a:buFont typeface="Calibri"/>
              <a:buNone/>
            </a:pPr>
            <a:r>
              <a:rPr lang="en-US" sz="3600" b="1">
                <a:solidFill>
                  <a:schemeClr val="dk1"/>
                </a:solidFill>
              </a:rPr>
              <a:t>Project Schedule</a:t>
            </a:r>
            <a:endParaRPr sz="3600" b="1"/>
          </a:p>
        </p:txBody>
      </p:sp>
      <p:sp>
        <p:nvSpPr>
          <p:cNvPr id="100" name="Google Shape;100;p15"/>
          <p:cNvSpPr txBox="1">
            <a:spLocks noGrp="1"/>
          </p:cNvSpPr>
          <p:nvPr>
            <p:ph type="body" idx="1"/>
          </p:nvPr>
        </p:nvSpPr>
        <p:spPr>
          <a:xfrm>
            <a:off x="192500" y="1545504"/>
            <a:ext cx="8662800" cy="1143000"/>
          </a:xfrm>
          <a:prstGeom prst="rect">
            <a:avLst/>
          </a:prstGeom>
          <a:noFill/>
          <a:ln>
            <a:noFill/>
          </a:ln>
        </p:spPr>
        <p:txBody>
          <a:bodyPr spcFirstLastPara="1" wrap="square" lIns="91425" tIns="45700" rIns="91425" bIns="45700" anchor="t" anchorCtr="0">
            <a:noAutofit/>
          </a:bodyPr>
          <a:lstStyle/>
          <a:p>
            <a:pPr marL="342900" lvl="0" indent="-370840" algn="l" rtl="0">
              <a:lnSpc>
                <a:spcPct val="90000"/>
              </a:lnSpc>
              <a:spcBef>
                <a:spcPts val="640"/>
              </a:spcBef>
              <a:spcAft>
                <a:spcPts val="0"/>
              </a:spcAft>
              <a:buSzPts val="2240"/>
              <a:buChar char="•"/>
            </a:pPr>
            <a:r>
              <a:rPr lang="en-US" sz="2240"/>
              <a:t>Duration of the project is 24 months, as determined on Jira timeline.</a:t>
            </a:r>
            <a:endParaRPr sz="2240"/>
          </a:p>
          <a:p>
            <a:pPr marL="342900" lvl="0" indent="-370840" algn="l" rtl="0">
              <a:lnSpc>
                <a:spcPct val="90000"/>
              </a:lnSpc>
              <a:spcBef>
                <a:spcPts val="640"/>
              </a:spcBef>
              <a:spcAft>
                <a:spcPts val="0"/>
              </a:spcAft>
              <a:buSzPts val="2240"/>
              <a:buChar char="•"/>
            </a:pPr>
            <a:r>
              <a:rPr lang="en-US" sz="2240"/>
              <a:t>Milestones have been identified from Initiating phase to Operational Readiness phase.</a:t>
            </a:r>
            <a:endParaRPr sz="2240"/>
          </a:p>
        </p:txBody>
      </p:sp>
      <p:pic>
        <p:nvPicPr>
          <p:cNvPr id="101" name="Google Shape;101;p15" descr="3.png"/>
          <p:cNvPicPr preferRelativeResize="0"/>
          <p:nvPr/>
        </p:nvPicPr>
        <p:blipFill rotWithShape="1">
          <a:blip r:embed="rId3">
            <a:alphaModFix/>
          </a:blip>
          <a:srcRect r="3232"/>
          <a:stretch/>
        </p:blipFill>
        <p:spPr>
          <a:xfrm>
            <a:off x="0" y="2816350"/>
            <a:ext cx="9143997" cy="4041651"/>
          </a:xfrm>
          <a:prstGeom prst="rect">
            <a:avLst/>
          </a:prstGeom>
          <a:noFill/>
          <a:ln>
            <a:noFill/>
          </a:ln>
        </p:spPr>
      </p:pic>
      <p:pic>
        <p:nvPicPr>
          <p:cNvPr id="102" name="Google Shape;102;p15"/>
          <p:cNvPicPr preferRelativeResize="0"/>
          <p:nvPr/>
        </p:nvPicPr>
        <p:blipFill rotWithShape="1">
          <a:blip r:embed="rId4">
            <a:alphaModFix/>
          </a:blip>
          <a:srcRect/>
          <a:stretch/>
        </p:blipFill>
        <p:spPr>
          <a:xfrm>
            <a:off x="3" y="1"/>
            <a:ext cx="1095375" cy="1095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3600" b="1">
                <a:solidFill>
                  <a:schemeClr val="dk1"/>
                </a:solidFill>
              </a:rPr>
              <a:t>Critical Path Analysis</a:t>
            </a:r>
            <a:endParaRPr sz="3600" b="1"/>
          </a:p>
        </p:txBody>
      </p:sp>
      <p:sp>
        <p:nvSpPr>
          <p:cNvPr id="108" name="Google Shape;108;p16"/>
          <p:cNvSpPr txBox="1">
            <a:spLocks noGrp="1"/>
          </p:cNvSpPr>
          <p:nvPr>
            <p:ph type="body" idx="1"/>
          </p:nvPr>
        </p:nvSpPr>
        <p:spPr>
          <a:xfrm>
            <a:off x="457200" y="1600200"/>
            <a:ext cx="8229600" cy="1590300"/>
          </a:xfrm>
          <a:prstGeom prst="rect">
            <a:avLst/>
          </a:prstGeom>
          <a:noFill/>
          <a:ln>
            <a:noFill/>
          </a:ln>
        </p:spPr>
        <p:txBody>
          <a:bodyPr spcFirstLastPara="1" wrap="square" lIns="91425" tIns="45700" rIns="91425" bIns="45700" anchor="t" anchorCtr="0">
            <a:normAutofit/>
          </a:bodyPr>
          <a:lstStyle/>
          <a:p>
            <a:pPr marL="342900" lvl="0" indent="-381000" algn="l" rtl="0">
              <a:spcBef>
                <a:spcPts val="640"/>
              </a:spcBef>
              <a:spcAft>
                <a:spcPts val="0"/>
              </a:spcAft>
              <a:buSzPts val="2400"/>
              <a:buChar char="•"/>
            </a:pPr>
            <a:r>
              <a:rPr lang="en-US" sz="2400"/>
              <a:t>Key activities involve Research, Compliance, Development, Hiring, and Acquisition.</a:t>
            </a:r>
            <a:endParaRPr sz="2400"/>
          </a:p>
          <a:p>
            <a:pPr marL="342900" lvl="0" indent="-381000" algn="l" rtl="0">
              <a:spcBef>
                <a:spcPts val="640"/>
              </a:spcBef>
              <a:spcAft>
                <a:spcPts val="0"/>
              </a:spcAft>
              <a:buSzPts val="2400"/>
              <a:buChar char="•"/>
            </a:pPr>
            <a:r>
              <a:rPr lang="en-US" sz="2400"/>
              <a:t>Tasks tracking using Jira Board.</a:t>
            </a:r>
            <a:endParaRPr sz="2400"/>
          </a:p>
        </p:txBody>
      </p:sp>
      <p:pic>
        <p:nvPicPr>
          <p:cNvPr id="109" name="Google Shape;109;p16" descr="1.png"/>
          <p:cNvPicPr preferRelativeResize="0"/>
          <p:nvPr/>
        </p:nvPicPr>
        <p:blipFill rotWithShape="1">
          <a:blip r:embed="rId3">
            <a:alphaModFix/>
          </a:blip>
          <a:srcRect/>
          <a:stretch/>
        </p:blipFill>
        <p:spPr>
          <a:xfrm>
            <a:off x="0" y="3371681"/>
            <a:ext cx="9144003" cy="4379993"/>
          </a:xfrm>
          <a:prstGeom prst="rect">
            <a:avLst/>
          </a:prstGeom>
          <a:noFill/>
          <a:ln>
            <a:noFill/>
          </a:ln>
        </p:spPr>
      </p:pic>
      <p:pic>
        <p:nvPicPr>
          <p:cNvPr id="110" name="Google Shape;110;p16"/>
          <p:cNvPicPr preferRelativeResize="0"/>
          <p:nvPr/>
        </p:nvPicPr>
        <p:blipFill rotWithShape="1">
          <a:blip r:embed="rId4">
            <a:alphaModFix/>
          </a:blip>
          <a:srcRect/>
          <a:stretch/>
        </p:blipFill>
        <p:spPr>
          <a:xfrm>
            <a:off x="3" y="1"/>
            <a:ext cx="1095375" cy="1095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7"/>
          <p:cNvSpPr txBox="1">
            <a:spLocks noGrp="1"/>
          </p:cNvSpPr>
          <p:nvPr>
            <p:ph type="body" idx="1"/>
          </p:nvPr>
        </p:nvSpPr>
        <p:spPr>
          <a:xfrm>
            <a:off x="457200" y="1600200"/>
            <a:ext cx="8229600" cy="1828800"/>
          </a:xfrm>
          <a:prstGeom prst="rect">
            <a:avLst/>
          </a:prstGeom>
          <a:noFill/>
          <a:ln>
            <a:noFill/>
          </a:ln>
        </p:spPr>
        <p:txBody>
          <a:bodyPr spcFirstLastPara="1" wrap="square" lIns="91425" tIns="45700" rIns="91425" bIns="45700" anchor="t" anchorCtr="0">
            <a:normAutofit/>
          </a:bodyPr>
          <a:lstStyle/>
          <a:p>
            <a:pPr marL="342900" lvl="0" indent="-393700" algn="l" rtl="0">
              <a:spcBef>
                <a:spcPts val="640"/>
              </a:spcBef>
              <a:spcAft>
                <a:spcPts val="0"/>
              </a:spcAft>
              <a:buSzPts val="2600"/>
              <a:buChar char="•"/>
            </a:pPr>
            <a:r>
              <a:rPr lang="en-US" sz="2600"/>
              <a:t>Communications with the stakeholders via Jira Forms and Docs.</a:t>
            </a:r>
            <a:endParaRPr sz="2600"/>
          </a:p>
          <a:p>
            <a:pPr marL="342900" lvl="0" indent="-393700" algn="l" rtl="0">
              <a:spcBef>
                <a:spcPts val="640"/>
              </a:spcBef>
              <a:spcAft>
                <a:spcPts val="0"/>
              </a:spcAft>
              <a:buSzPts val="2600"/>
              <a:buChar char="•"/>
            </a:pPr>
            <a:r>
              <a:rPr lang="en-US" sz="2600"/>
              <a:t>Sprints weekly and meetings monthly.</a:t>
            </a:r>
            <a:endParaRPr sz="2600"/>
          </a:p>
        </p:txBody>
      </p:sp>
      <p:sp>
        <p:nvSpPr>
          <p:cNvPr id="116" name="Google Shape;116;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3600" b="1">
                <a:solidFill>
                  <a:schemeClr val="dk1"/>
                </a:solidFill>
              </a:rPr>
              <a:t>Communication Strategy</a:t>
            </a:r>
            <a:endParaRPr sz="3600" b="1"/>
          </a:p>
        </p:txBody>
      </p:sp>
      <p:pic>
        <p:nvPicPr>
          <p:cNvPr id="117" name="Google Shape;117;p17" descr="4.png"/>
          <p:cNvPicPr preferRelativeResize="0"/>
          <p:nvPr/>
        </p:nvPicPr>
        <p:blipFill rotWithShape="1">
          <a:blip r:embed="rId3">
            <a:alphaModFix/>
          </a:blip>
          <a:srcRect l="-1000"/>
          <a:stretch/>
        </p:blipFill>
        <p:spPr>
          <a:xfrm>
            <a:off x="-91460" y="3429000"/>
            <a:ext cx="9235460" cy="4377675"/>
          </a:xfrm>
          <a:prstGeom prst="rect">
            <a:avLst/>
          </a:prstGeom>
          <a:noFill/>
          <a:ln>
            <a:noFill/>
          </a:ln>
        </p:spPr>
      </p:pic>
      <p:pic>
        <p:nvPicPr>
          <p:cNvPr id="118" name="Google Shape;118;p17"/>
          <p:cNvPicPr preferRelativeResize="0"/>
          <p:nvPr/>
        </p:nvPicPr>
        <p:blipFill rotWithShape="1">
          <a:blip r:embed="rId4">
            <a:alphaModFix/>
          </a:blip>
          <a:srcRect/>
          <a:stretch/>
        </p:blipFill>
        <p:spPr>
          <a:xfrm>
            <a:off x="3" y="1"/>
            <a:ext cx="1095375" cy="1095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8" name="Project Management Approach- AGILE"/>
          <p:cNvSpPr txBox="1">
            <a:spLocks noGrp="1"/>
          </p:cNvSpPr>
          <p:nvPr>
            <p:ph type="ctrTitle"/>
          </p:nvPr>
        </p:nvSpPr>
        <p:spPr>
          <a:xfrm>
            <a:off x="537627" y="967207"/>
            <a:ext cx="8154377" cy="533711"/>
          </a:xfrm>
          <a:prstGeom prst="rect">
            <a:avLst/>
          </a:prstGeom>
        </p:spPr>
        <p:txBody>
          <a:bodyPr>
            <a:noAutofit/>
          </a:bodyPr>
          <a:lstStyle/>
          <a:p>
            <a:pPr defTabSz="238363">
              <a:defRPr sz="8624"/>
            </a:pPr>
            <a:r>
              <a:rPr sz="3600" dirty="0"/>
              <a:t>Project Management Approach- </a:t>
            </a:r>
            <a:r>
              <a:rPr sz="3600" b="1" u="sng" dirty="0">
                <a:latin typeface="Helvetica Neue"/>
                <a:ea typeface="Helvetica Neue"/>
                <a:cs typeface="Helvetica Neue"/>
                <a:sym typeface="Helvetica Neue"/>
              </a:rPr>
              <a:t>AGILE</a:t>
            </a:r>
            <a:r>
              <a:rPr sz="3600" dirty="0"/>
              <a:t> </a:t>
            </a:r>
          </a:p>
        </p:txBody>
      </p:sp>
      <p:sp>
        <p:nvSpPr>
          <p:cNvPr id="137" name="Why Agile for EcoPack?…"/>
          <p:cNvSpPr txBox="1">
            <a:spLocks noGrp="1"/>
          </p:cNvSpPr>
          <p:nvPr>
            <p:ph type="subTitle" idx="1"/>
          </p:nvPr>
        </p:nvSpPr>
        <p:spPr>
          <a:xfrm>
            <a:off x="261431" y="1551269"/>
            <a:ext cx="8706769" cy="4264819"/>
          </a:xfrm>
          <a:prstGeom prst="rect">
            <a:avLst/>
          </a:prstGeom>
        </p:spPr>
        <p:txBody>
          <a:bodyPr>
            <a:normAutofit fontScale="32500" lnSpcReduction="20000"/>
          </a:bodyPr>
          <a:lstStyle/>
          <a:p>
            <a:pPr marL="259854" indent="-259854" defTabSz="300276">
              <a:buSzPct val="125000"/>
              <a:buChar char="•"/>
              <a:defRPr sz="5238"/>
            </a:pPr>
            <a:r>
              <a:rPr b="1" dirty="0">
                <a:solidFill>
                  <a:schemeClr val="tx1"/>
                </a:solidFill>
              </a:rPr>
              <a:t>Why Agile for EcoPack?</a:t>
            </a:r>
            <a:r>
              <a:rPr dirty="0">
                <a:solidFill>
                  <a:schemeClr val="tx1"/>
                </a:solidFill>
              </a:rPr>
              <a:t> </a:t>
            </a:r>
          </a:p>
          <a:p>
            <a:pPr marL="240605" indent="-240605" defTabSz="300276">
              <a:buSzPct val="50000"/>
              <a:buBlip>
                <a:blip r:embed="rId3"/>
              </a:buBlip>
              <a:defRPr sz="4850"/>
            </a:pPr>
            <a:r>
              <a:rPr dirty="0">
                <a:solidFill>
                  <a:schemeClr val="tx1"/>
                </a:solidFill>
              </a:rPr>
              <a:t>Suitable for digital platform development.</a:t>
            </a:r>
          </a:p>
          <a:p>
            <a:pPr marL="240605" indent="-240605" defTabSz="300276">
              <a:buSzPct val="50000"/>
              <a:buBlip>
                <a:blip r:embed="rId3"/>
              </a:buBlip>
              <a:defRPr sz="4850"/>
            </a:pPr>
            <a:r>
              <a:rPr dirty="0">
                <a:solidFill>
                  <a:schemeClr val="tx1"/>
                </a:solidFill>
              </a:rPr>
              <a:t>Allows continuous stakeholder feedback</a:t>
            </a:r>
          </a:p>
          <a:p>
            <a:pPr marL="240605" indent="-240605" defTabSz="300276">
              <a:buSzPct val="50000"/>
              <a:buBlip>
                <a:blip r:embed="rId3"/>
              </a:buBlip>
              <a:defRPr sz="4850"/>
            </a:pPr>
            <a:r>
              <a:rPr dirty="0">
                <a:solidFill>
                  <a:schemeClr val="tx1"/>
                </a:solidFill>
              </a:rPr>
              <a:t>Improves product quality through regular reviewing and testing </a:t>
            </a:r>
          </a:p>
          <a:p>
            <a:pPr marL="240605" indent="-240605" defTabSz="300276">
              <a:buSzPct val="50000"/>
              <a:buBlip>
                <a:blip r:embed="rId3"/>
              </a:buBlip>
              <a:defRPr sz="4850"/>
            </a:pPr>
            <a:r>
              <a:rPr dirty="0">
                <a:solidFill>
                  <a:schemeClr val="tx1"/>
                </a:solidFill>
              </a:rPr>
              <a:t>Helps to respond quickly to changing customer and supplier needs</a:t>
            </a:r>
          </a:p>
          <a:p>
            <a:pPr marL="240605" indent="-240605" defTabSz="300276">
              <a:buSzPct val="50000"/>
              <a:buBlip>
                <a:blip r:embed="rId3"/>
              </a:buBlip>
              <a:defRPr sz="4850"/>
            </a:pPr>
            <a:endParaRPr dirty="0">
              <a:solidFill>
                <a:schemeClr val="tx1"/>
              </a:solidFill>
            </a:endParaRPr>
          </a:p>
          <a:p>
            <a:pPr marL="259854" indent="-259854" defTabSz="300276">
              <a:buSzPct val="125000"/>
              <a:buChar char="•"/>
              <a:defRPr sz="5238" b="1"/>
            </a:pPr>
            <a:r>
              <a:rPr dirty="0">
                <a:solidFill>
                  <a:schemeClr val="tx1"/>
                </a:solidFill>
              </a:rPr>
              <a:t>Advantages</a:t>
            </a:r>
          </a:p>
          <a:p>
            <a:pPr marL="240605" indent="-240605" defTabSz="300276">
              <a:buSzPct val="50000"/>
              <a:buBlip>
                <a:blip r:embed="rId3"/>
              </a:buBlip>
              <a:defRPr sz="4850"/>
            </a:pPr>
            <a:r>
              <a:rPr dirty="0">
                <a:solidFill>
                  <a:schemeClr val="tx1"/>
                </a:solidFill>
              </a:rPr>
              <a:t>Faster delivery of functional platform features</a:t>
            </a:r>
          </a:p>
          <a:p>
            <a:pPr marL="240605" indent="-240605" defTabSz="300276">
              <a:buSzPct val="50000"/>
              <a:buBlip>
                <a:blip r:embed="rId3"/>
              </a:buBlip>
              <a:defRPr sz="4850"/>
            </a:pPr>
            <a:r>
              <a:rPr dirty="0">
                <a:solidFill>
                  <a:schemeClr val="tx1"/>
                </a:solidFill>
              </a:rPr>
              <a:t>Better teamwork and collaboration</a:t>
            </a:r>
          </a:p>
          <a:p>
            <a:pPr marL="240605" indent="-240605" defTabSz="300276">
              <a:buSzPct val="50000"/>
              <a:buBlip>
                <a:blip r:embed="rId3"/>
              </a:buBlip>
              <a:defRPr sz="4850"/>
            </a:pPr>
            <a:r>
              <a:rPr dirty="0">
                <a:solidFill>
                  <a:schemeClr val="tx1"/>
                </a:solidFill>
              </a:rPr>
              <a:t>Early identification and resolution of technical issues </a:t>
            </a:r>
          </a:p>
          <a:p>
            <a:pPr marL="259854" indent="-259854" defTabSz="300276">
              <a:buSzPct val="50000"/>
              <a:buBlip>
                <a:blip r:embed="rId3"/>
              </a:buBlip>
              <a:defRPr sz="5238"/>
            </a:pPr>
            <a:endParaRPr dirty="0">
              <a:solidFill>
                <a:schemeClr val="tx1"/>
              </a:solidFill>
            </a:endParaRPr>
          </a:p>
          <a:p>
            <a:pPr marL="259854" indent="-259854" defTabSz="300276">
              <a:buSzPct val="125000"/>
              <a:buChar char="•"/>
              <a:defRPr sz="5238" b="1"/>
            </a:pPr>
            <a:r>
              <a:rPr dirty="0">
                <a:solidFill>
                  <a:schemeClr val="tx1"/>
                </a:solidFill>
              </a:rPr>
              <a:t>Limitations</a:t>
            </a:r>
          </a:p>
          <a:p>
            <a:pPr marL="240605" indent="-240605" defTabSz="300276">
              <a:buSzPct val="50000"/>
              <a:buBlip>
                <a:blip r:embed="rId3"/>
              </a:buBlip>
              <a:defRPr sz="4850"/>
            </a:pPr>
            <a:r>
              <a:rPr dirty="0">
                <a:solidFill>
                  <a:schemeClr val="tx1"/>
                </a:solidFill>
              </a:rPr>
              <a:t>Requires continuous stakeholder involvement </a:t>
            </a:r>
          </a:p>
          <a:p>
            <a:pPr marL="240605" indent="-240605" defTabSz="300276">
              <a:buSzPct val="50000"/>
              <a:buBlip>
                <a:blip r:embed="rId3"/>
              </a:buBlip>
              <a:defRPr sz="4850"/>
            </a:pPr>
            <a:r>
              <a:rPr dirty="0">
                <a:solidFill>
                  <a:schemeClr val="tx1"/>
                </a:solidFill>
              </a:rPr>
              <a:t>Difficult to estimate costs and timelines accurately</a:t>
            </a:r>
          </a:p>
          <a:p>
            <a:pPr marL="240605" indent="-240605" defTabSz="300276">
              <a:buSzPct val="50000"/>
              <a:buBlip>
                <a:blip r:embed="rId3"/>
              </a:buBlip>
              <a:defRPr sz="4850"/>
            </a:pPr>
            <a:r>
              <a:rPr dirty="0">
                <a:solidFill>
                  <a:schemeClr val="tx1"/>
                </a:solidFill>
              </a:rPr>
              <a:t>Frequent changes may affect long-term planning</a:t>
            </a:r>
          </a:p>
        </p:txBody>
      </p:sp>
      <p:pic>
        <p:nvPicPr>
          <p:cNvPr id="139" name="IMG_0131.png" descr="IMG_0131.png"/>
          <p:cNvPicPr>
            <a:picLocks noChangeAspect="1"/>
          </p:cNvPicPr>
          <p:nvPr/>
        </p:nvPicPr>
        <p:blipFill>
          <a:blip r:embed="rId4"/>
          <a:stretch>
            <a:fillRect/>
          </a:stretch>
        </p:blipFill>
        <p:spPr>
          <a:xfrm>
            <a:off x="192662" y="284774"/>
            <a:ext cx="559958" cy="559958"/>
          </a:xfrm>
          <a:prstGeom prst="rect">
            <a:avLst/>
          </a:prstGeom>
          <a:ln w="12700">
            <a:miter lim="400000"/>
          </a:ln>
        </p:spPr>
      </p:pic>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1" name="Stakeholder Identification and Analysis"/>
          <p:cNvSpPr txBox="1">
            <a:spLocks noGrp="1"/>
          </p:cNvSpPr>
          <p:nvPr>
            <p:ph type="ctrTitle"/>
          </p:nvPr>
        </p:nvSpPr>
        <p:spPr>
          <a:xfrm>
            <a:off x="772152" y="931459"/>
            <a:ext cx="7705098" cy="626564"/>
          </a:xfrm>
          <a:prstGeom prst="rect">
            <a:avLst/>
          </a:prstGeom>
        </p:spPr>
        <p:txBody>
          <a:bodyPr>
            <a:noAutofit/>
          </a:bodyPr>
          <a:lstStyle>
            <a:lvl1pPr defTabSz="652145">
              <a:defRPr sz="8848"/>
            </a:lvl1pPr>
          </a:lstStyle>
          <a:p>
            <a:r>
              <a:rPr sz="4000" dirty="0"/>
              <a:t>Stakeholder Identification and Analysis </a:t>
            </a:r>
          </a:p>
        </p:txBody>
      </p:sp>
      <p:sp>
        <p:nvSpPr>
          <p:cNvPr id="142" name="Key Stakeholders.                                                                                               Power interest matrix…"/>
          <p:cNvSpPr txBox="1">
            <a:spLocks noGrp="1"/>
          </p:cNvSpPr>
          <p:nvPr>
            <p:ph type="subTitle" idx="1"/>
          </p:nvPr>
        </p:nvSpPr>
        <p:spPr>
          <a:xfrm>
            <a:off x="147257" y="2014278"/>
            <a:ext cx="8904224" cy="3877540"/>
          </a:xfrm>
          <a:prstGeom prst="rect">
            <a:avLst/>
          </a:prstGeom>
        </p:spPr>
        <p:txBody>
          <a:bodyPr>
            <a:normAutofit fontScale="32500" lnSpcReduction="20000"/>
          </a:bodyPr>
          <a:lstStyle/>
          <a:p>
            <a:pPr lvl="1" algn="l" defTabSz="225981">
              <a:buSzPct val="50000"/>
              <a:defRPr sz="3942"/>
            </a:pPr>
            <a:r>
              <a:rPr lang="en-US" dirty="0"/>
              <a:t>	</a:t>
            </a:r>
            <a:r>
              <a:rPr sz="3700" dirty="0">
                <a:solidFill>
                  <a:schemeClr val="tx1"/>
                </a:solidFill>
              </a:rPr>
              <a:t>Power interest matrix  </a:t>
            </a:r>
          </a:p>
          <a:p>
            <a:pPr marL="162967" indent="-162967" algn="l" defTabSz="225981">
              <a:buSzPct val="125000"/>
              <a:buChar char="•"/>
              <a:defRPr sz="3285"/>
            </a:pPr>
            <a:r>
              <a:rPr sz="3700" dirty="0">
                <a:solidFill>
                  <a:schemeClr val="tx1"/>
                </a:solidFill>
              </a:rPr>
              <a:t>Project Sponsor : Provides funding and expect high-</a:t>
            </a:r>
          </a:p>
          <a:p>
            <a:pPr algn="l" defTabSz="225981">
              <a:defRPr sz="3285"/>
            </a:pPr>
            <a:r>
              <a:rPr sz="3700" dirty="0">
                <a:solidFill>
                  <a:schemeClr val="tx1"/>
                </a:solidFill>
              </a:rPr>
              <a:t>Quality project on time and within budget. </a:t>
            </a:r>
          </a:p>
          <a:p>
            <a:pPr algn="l" defTabSz="225981">
              <a:defRPr sz="3285"/>
            </a:pPr>
            <a:endParaRPr sz="3700" dirty="0">
              <a:solidFill>
                <a:schemeClr val="tx1"/>
              </a:solidFill>
            </a:endParaRPr>
          </a:p>
          <a:p>
            <a:pPr marL="162967" indent="-162967" algn="l" defTabSz="225981">
              <a:buSzPct val="125000"/>
              <a:buChar char="•"/>
              <a:defRPr sz="3285"/>
            </a:pPr>
            <a:r>
              <a:rPr sz="3700" dirty="0">
                <a:solidFill>
                  <a:schemeClr val="tx1"/>
                </a:solidFill>
              </a:rPr>
              <a:t>Project Manager : Leads and controls project, want </a:t>
            </a:r>
          </a:p>
          <a:p>
            <a:pPr algn="l" defTabSz="225981">
              <a:defRPr sz="3285"/>
            </a:pPr>
            <a:r>
              <a:rPr sz="3700" dirty="0">
                <a:solidFill>
                  <a:schemeClr val="tx1"/>
                </a:solidFill>
              </a:rPr>
              <a:t> clear communication and goal achievement. </a:t>
            </a:r>
          </a:p>
          <a:p>
            <a:pPr algn="l" defTabSz="225981">
              <a:defRPr sz="3285"/>
            </a:pPr>
            <a:endParaRPr sz="3700" dirty="0">
              <a:solidFill>
                <a:schemeClr val="tx1"/>
              </a:solidFill>
            </a:endParaRPr>
          </a:p>
          <a:p>
            <a:pPr marL="162967" indent="-162967" algn="l" defTabSz="225981">
              <a:buSzPct val="125000"/>
              <a:buChar char="•"/>
              <a:defRPr sz="3285"/>
            </a:pPr>
            <a:r>
              <a:rPr sz="3700" dirty="0">
                <a:solidFill>
                  <a:schemeClr val="tx1"/>
                </a:solidFill>
              </a:rPr>
              <a:t>Project Team Members : Execute project tasks, require</a:t>
            </a:r>
          </a:p>
          <a:p>
            <a:pPr algn="l" defTabSz="225981">
              <a:defRPr sz="3285"/>
            </a:pPr>
            <a:r>
              <a:rPr sz="3700" dirty="0">
                <a:solidFill>
                  <a:schemeClr val="tx1"/>
                </a:solidFill>
              </a:rPr>
              <a:t> clear instructions &amp; fair workloads </a:t>
            </a:r>
          </a:p>
          <a:p>
            <a:pPr algn="l" defTabSz="225981">
              <a:defRPr sz="3285"/>
            </a:pPr>
            <a:endParaRPr sz="3700" dirty="0">
              <a:solidFill>
                <a:schemeClr val="tx1"/>
              </a:solidFill>
            </a:endParaRPr>
          </a:p>
          <a:p>
            <a:pPr marL="162967" indent="-162967" algn="l" defTabSz="225981">
              <a:buSzPct val="125000"/>
              <a:buChar char="•"/>
              <a:defRPr sz="3285"/>
            </a:pPr>
            <a:r>
              <a:rPr sz="3700" dirty="0">
                <a:solidFill>
                  <a:schemeClr val="tx1"/>
                </a:solidFill>
              </a:rPr>
              <a:t>Functional Managers : Provide necessary resources &amp; </a:t>
            </a:r>
          </a:p>
          <a:p>
            <a:pPr algn="l" defTabSz="225981">
              <a:defRPr sz="3285"/>
            </a:pPr>
            <a:r>
              <a:rPr sz="3700" dirty="0">
                <a:solidFill>
                  <a:schemeClr val="tx1"/>
                </a:solidFill>
              </a:rPr>
              <a:t> Team Support</a:t>
            </a:r>
          </a:p>
          <a:p>
            <a:pPr algn="l" defTabSz="225981">
              <a:defRPr sz="3285"/>
            </a:pPr>
            <a:endParaRPr sz="3700" dirty="0">
              <a:solidFill>
                <a:schemeClr val="tx1"/>
              </a:solidFill>
            </a:endParaRPr>
          </a:p>
          <a:p>
            <a:pPr marL="162967" indent="-162967" algn="l" defTabSz="225981">
              <a:buSzPct val="125000"/>
              <a:buChar char="•"/>
              <a:defRPr sz="3285"/>
            </a:pPr>
            <a:r>
              <a:rPr sz="3700" dirty="0">
                <a:solidFill>
                  <a:schemeClr val="tx1"/>
                </a:solidFill>
              </a:rPr>
              <a:t>Government / Regulatory Authorities : Ensure all legal </a:t>
            </a:r>
          </a:p>
          <a:p>
            <a:pPr algn="l" defTabSz="225981">
              <a:defRPr sz="3285"/>
            </a:pPr>
            <a:r>
              <a:rPr sz="3700" dirty="0">
                <a:solidFill>
                  <a:schemeClr val="tx1"/>
                </a:solidFill>
              </a:rPr>
              <a:t>  requirements</a:t>
            </a:r>
          </a:p>
          <a:p>
            <a:pPr algn="l" defTabSz="225981">
              <a:defRPr sz="3285"/>
            </a:pPr>
            <a:endParaRPr sz="3700" dirty="0">
              <a:solidFill>
                <a:schemeClr val="tx1"/>
              </a:solidFill>
            </a:endParaRPr>
          </a:p>
          <a:p>
            <a:pPr marL="162967" indent="-162967" algn="l" defTabSz="225981">
              <a:buSzPct val="125000"/>
              <a:buChar char="•"/>
              <a:defRPr sz="3285"/>
            </a:pPr>
            <a:r>
              <a:rPr sz="3700" dirty="0">
                <a:solidFill>
                  <a:schemeClr val="tx1"/>
                </a:solidFill>
              </a:rPr>
              <a:t>Client / Customers : Receives the final product needs</a:t>
            </a:r>
          </a:p>
          <a:p>
            <a:pPr marL="162967" indent="-162967" algn="l" defTabSz="225981">
              <a:buSzPct val="125000"/>
              <a:buChar char="•"/>
              <a:defRPr sz="3285"/>
            </a:pPr>
            <a:endParaRPr sz="3700" dirty="0">
              <a:solidFill>
                <a:schemeClr val="tx1"/>
              </a:solidFill>
            </a:endParaRPr>
          </a:p>
          <a:p>
            <a:pPr marL="162967" indent="-162967" algn="l" defTabSz="225981">
              <a:buSzPct val="125000"/>
              <a:buChar char="•"/>
              <a:defRPr sz="3285"/>
            </a:pPr>
            <a:r>
              <a:rPr sz="3700" dirty="0">
                <a:solidFill>
                  <a:schemeClr val="tx1"/>
                </a:solidFill>
              </a:rPr>
              <a:t>Suppliers / Vendors : Deliver goods &amp; services </a:t>
            </a:r>
          </a:p>
          <a:p>
            <a:pPr algn="l" defTabSz="225981">
              <a:defRPr sz="3285"/>
            </a:pPr>
            <a:r>
              <a:rPr sz="3700" dirty="0">
                <a:solidFill>
                  <a:schemeClr val="tx1"/>
                </a:solidFill>
              </a:rPr>
              <a:t> and expects fair contracts &amp; on-time payments</a:t>
            </a:r>
          </a:p>
        </p:txBody>
      </p:sp>
      <p:graphicFrame>
        <p:nvGraphicFramePr>
          <p:cNvPr id="143" name="Table 1"/>
          <p:cNvGraphicFramePr/>
          <p:nvPr>
            <p:extLst>
              <p:ext uri="{D42A27DB-BD31-4B8C-83A1-F6EECF244321}">
                <p14:modId xmlns:p14="http://schemas.microsoft.com/office/powerpoint/2010/main" val="4141167029"/>
              </p:ext>
            </p:extLst>
          </p:nvPr>
        </p:nvGraphicFramePr>
        <p:xfrm>
          <a:off x="4599369" y="2103539"/>
          <a:ext cx="3151017" cy="3699017"/>
        </p:xfrm>
        <a:graphic>
          <a:graphicData uri="http://schemas.openxmlformats.org/drawingml/2006/table">
            <a:tbl>
              <a:tblPr firstRow="1"/>
              <a:tblGrid>
                <a:gridCol w="1050339">
                  <a:extLst>
                    <a:ext uri="{9D8B030D-6E8A-4147-A177-3AD203B41FA5}">
                      <a16:colId xmlns:a16="http://schemas.microsoft.com/office/drawing/2014/main" val="20000"/>
                    </a:ext>
                  </a:extLst>
                </a:gridCol>
                <a:gridCol w="1050339">
                  <a:extLst>
                    <a:ext uri="{9D8B030D-6E8A-4147-A177-3AD203B41FA5}">
                      <a16:colId xmlns:a16="http://schemas.microsoft.com/office/drawing/2014/main" val="20001"/>
                    </a:ext>
                  </a:extLst>
                </a:gridCol>
                <a:gridCol w="1050339">
                  <a:extLst>
                    <a:ext uri="{9D8B030D-6E8A-4147-A177-3AD203B41FA5}">
                      <a16:colId xmlns:a16="http://schemas.microsoft.com/office/drawing/2014/main" val="20002"/>
                    </a:ext>
                  </a:extLst>
                </a:gridCol>
              </a:tblGrid>
              <a:tr h="794808">
                <a:tc>
                  <a:txBody>
                    <a:bodyPr/>
                    <a:lstStyle/>
                    <a:p>
                      <a:pPr algn="l" defTabSz="914400">
                        <a:tabLst>
                          <a:tab pos="1663700" algn="l"/>
                        </a:tabLst>
                        <a:defRPr sz="3100">
                          <a:sym typeface="Helvetica Neue"/>
                        </a:defRPr>
                      </a:pPr>
                      <a:endParaRPr sz="1200" dirty="0"/>
                    </a:p>
                  </a:txBody>
                  <a:tcPr marL="19050" marR="19050" marT="19050" marB="19050" anchor="ctr" horzOverflow="overflow">
                    <a:lnL w="12700">
                      <a:miter lim="400000"/>
                    </a:lnL>
                  </a:tcPr>
                </a:tc>
                <a:tc>
                  <a:txBody>
                    <a:bodyPr/>
                    <a:lstStyle/>
                    <a:p>
                      <a:pPr algn="l" defTabSz="914400">
                        <a:tabLst>
                          <a:tab pos="1663700" algn="l"/>
                        </a:tabLst>
                        <a:defRPr sz="1800" b="0"/>
                      </a:pPr>
                      <a:r>
                        <a:rPr sz="1200" b="1" dirty="0">
                          <a:sym typeface="Helvetica Neue"/>
                        </a:rPr>
                        <a:t>LOW INTEREST</a:t>
                      </a:r>
                    </a:p>
                  </a:txBody>
                  <a:tcPr marL="19050" marR="19050" marT="19050" marB="19050" anchor="ctr" horzOverflow="overflow"/>
                </a:tc>
                <a:tc>
                  <a:txBody>
                    <a:bodyPr/>
                    <a:lstStyle/>
                    <a:p>
                      <a:pPr algn="l" defTabSz="914400">
                        <a:tabLst>
                          <a:tab pos="1663700" algn="l"/>
                        </a:tabLst>
                        <a:defRPr sz="1800" b="0"/>
                      </a:pPr>
                      <a:r>
                        <a:rPr sz="1200" b="1">
                          <a:sym typeface="Helvetica Neue"/>
                        </a:rPr>
                        <a:t>HIGH INTEREST</a:t>
                      </a:r>
                    </a:p>
                  </a:txBody>
                  <a:tcPr marL="19050" marR="19050" marT="19050" marB="19050" anchor="ctr" horzOverflow="overflow">
                    <a:lnR w="12700">
                      <a:miter lim="400000"/>
                    </a:lnR>
                  </a:tcPr>
                </a:tc>
                <a:extLst>
                  <a:ext uri="{0D108BD9-81ED-4DB2-BD59-A6C34878D82A}">
                    <a16:rowId xmlns:a16="http://schemas.microsoft.com/office/drawing/2014/main" val="10000"/>
                  </a:ext>
                </a:extLst>
              </a:tr>
              <a:tr h="1671203">
                <a:tc>
                  <a:txBody>
                    <a:bodyPr/>
                    <a:lstStyle/>
                    <a:p>
                      <a:pPr algn="l" defTabSz="914400">
                        <a:defRPr sz="1800"/>
                      </a:pPr>
                      <a:r>
                        <a:rPr sz="1200" b="1">
                          <a:sym typeface="Helvetica Neue"/>
                        </a:rPr>
                        <a:t>HIGH POWER </a:t>
                      </a:r>
                    </a:p>
                  </a:txBody>
                  <a:tcPr marL="19050" marR="19050" marT="19050" marB="19050" anchor="ctr" horzOverflow="overflow">
                    <a:lnL w="12700">
                      <a:miter lim="400000"/>
                    </a:lnL>
                  </a:tcPr>
                </a:tc>
                <a:tc>
                  <a:txBody>
                    <a:bodyPr/>
                    <a:lstStyle/>
                    <a:p>
                      <a:pPr algn="l" defTabSz="914400">
                        <a:defRPr sz="1800"/>
                      </a:pPr>
                      <a:r>
                        <a:rPr sz="1200" dirty="0">
                          <a:sym typeface="Helvetica Neue"/>
                        </a:rPr>
                        <a:t>KEEP SATISFIED
Functional Managers 
Government / Regulatory Authorities </a:t>
                      </a:r>
                    </a:p>
                  </a:txBody>
                  <a:tcPr marL="19050" marR="19050" marT="19050" marB="19050" horzOverflow="overflow"/>
                </a:tc>
                <a:tc>
                  <a:txBody>
                    <a:bodyPr/>
                    <a:lstStyle/>
                    <a:p>
                      <a:pPr algn="l" defTabSz="914400">
                        <a:defRPr sz="1800"/>
                      </a:pPr>
                      <a:r>
                        <a:rPr sz="1200">
                          <a:sym typeface="Helvetica Neue"/>
                        </a:rPr>
                        <a:t> MANAGE CLOSELY 
Project Sponsor
Project Manager
Client / Customer</a:t>
                      </a:r>
                    </a:p>
                  </a:txBody>
                  <a:tcPr marL="19050" marR="19050" marT="19050" marB="19050" horzOverflow="overflow">
                    <a:lnR w="12700">
                      <a:miter lim="400000"/>
                    </a:lnR>
                  </a:tcPr>
                </a:tc>
                <a:extLst>
                  <a:ext uri="{0D108BD9-81ED-4DB2-BD59-A6C34878D82A}">
                    <a16:rowId xmlns:a16="http://schemas.microsoft.com/office/drawing/2014/main" val="10001"/>
                  </a:ext>
                </a:extLst>
              </a:tr>
              <a:tr h="1233006">
                <a:tc>
                  <a:txBody>
                    <a:bodyPr/>
                    <a:lstStyle/>
                    <a:p>
                      <a:pPr algn="l" defTabSz="914400">
                        <a:defRPr sz="1800"/>
                      </a:pPr>
                      <a:r>
                        <a:rPr sz="1200" b="1">
                          <a:sym typeface="Helvetica Neue"/>
                        </a:rPr>
                        <a:t>LOW POWER </a:t>
                      </a:r>
                    </a:p>
                  </a:txBody>
                  <a:tcPr marL="19050" marR="19050" marT="19050" marB="19050" anchor="ctr" horzOverflow="overflow">
                    <a:lnL w="12700">
                      <a:miter lim="400000"/>
                    </a:lnL>
                    <a:lnB w="12700">
                      <a:miter lim="400000"/>
                    </a:lnB>
                  </a:tcPr>
                </a:tc>
                <a:tc>
                  <a:txBody>
                    <a:bodyPr/>
                    <a:lstStyle/>
                    <a:p>
                      <a:pPr algn="l" defTabSz="914400">
                        <a:defRPr sz="1800"/>
                      </a:pPr>
                      <a:r>
                        <a:rPr sz="1200">
                          <a:sym typeface="Helvetica Neue"/>
                        </a:rPr>
                        <a:t>MONITOR
Local Community / Public 
Suppliers / Vendors</a:t>
                      </a:r>
                    </a:p>
                  </a:txBody>
                  <a:tcPr marL="19050" marR="19050" marT="19050" marB="19050" horzOverflow="overflow">
                    <a:lnB w="12700">
                      <a:miter lim="400000"/>
                    </a:lnB>
                  </a:tcPr>
                </a:tc>
                <a:tc>
                  <a:txBody>
                    <a:bodyPr/>
                    <a:lstStyle/>
                    <a:p>
                      <a:pPr algn="l" defTabSz="914400">
                        <a:defRPr sz="1800"/>
                      </a:pPr>
                      <a:r>
                        <a:rPr sz="1200" dirty="0">
                          <a:sym typeface="Helvetica Neue"/>
                        </a:rPr>
                        <a:t>KEEP INFORMED
Project Team Members
End Users</a:t>
                      </a:r>
                    </a:p>
                  </a:txBody>
                  <a:tcPr marL="19050" marR="19050" marT="19050" marB="19050" horzOverflow="overflow">
                    <a:lnR w="12700">
                      <a:miter lim="400000"/>
                    </a:lnR>
                    <a:lnB w="12700">
                      <a:miter lim="400000"/>
                    </a:lnB>
                  </a:tcPr>
                </a:tc>
                <a:extLst>
                  <a:ext uri="{0D108BD9-81ED-4DB2-BD59-A6C34878D82A}">
                    <a16:rowId xmlns:a16="http://schemas.microsoft.com/office/drawing/2014/main" val="10002"/>
                  </a:ext>
                </a:extLst>
              </a:tr>
            </a:tbl>
          </a:graphicData>
        </a:graphic>
      </p:graphicFrame>
      <p:pic>
        <p:nvPicPr>
          <p:cNvPr id="144" name="IMG_0131.png" descr="IMG_0131.png"/>
          <p:cNvPicPr>
            <a:picLocks noChangeAspect="1"/>
          </p:cNvPicPr>
          <p:nvPr/>
        </p:nvPicPr>
        <p:blipFill>
          <a:blip r:embed="rId3"/>
          <a:stretch>
            <a:fillRect/>
          </a:stretch>
        </p:blipFill>
        <p:spPr>
          <a:xfrm>
            <a:off x="-9757" y="847601"/>
            <a:ext cx="614633" cy="614633"/>
          </a:xfrm>
          <a:prstGeom prst="rect">
            <a:avLst/>
          </a:prstGeom>
          <a:ln w="12700">
            <a:miter lim="400000"/>
          </a:ln>
        </p:spPr>
      </p:pic>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Risk Assessment"/>
          <p:cNvSpPr txBox="1">
            <a:spLocks noGrp="1"/>
          </p:cNvSpPr>
          <p:nvPr>
            <p:ph type="ctrTitle"/>
          </p:nvPr>
        </p:nvSpPr>
        <p:spPr>
          <a:xfrm>
            <a:off x="960097" y="866829"/>
            <a:ext cx="7836776" cy="552507"/>
          </a:xfrm>
          <a:prstGeom prst="rect">
            <a:avLst/>
          </a:prstGeom>
        </p:spPr>
        <p:txBody>
          <a:bodyPr>
            <a:noAutofit/>
          </a:bodyPr>
          <a:lstStyle>
            <a:lvl1pPr defTabSz="660400">
              <a:defRPr sz="8960"/>
            </a:lvl1pPr>
          </a:lstStyle>
          <a:p>
            <a:r>
              <a:rPr sz="4000" dirty="0"/>
              <a:t>Risk Assessment </a:t>
            </a:r>
          </a:p>
        </p:txBody>
      </p:sp>
      <p:sp>
        <p:nvSpPr>
          <p:cNvPr id="147" name="Risk Register Summary…"/>
          <p:cNvSpPr txBox="1">
            <a:spLocks noGrp="1"/>
          </p:cNvSpPr>
          <p:nvPr>
            <p:ph type="subTitle" idx="1"/>
          </p:nvPr>
        </p:nvSpPr>
        <p:spPr>
          <a:xfrm>
            <a:off x="95878" y="1394483"/>
            <a:ext cx="8952245" cy="4526166"/>
          </a:xfrm>
          <a:prstGeom prst="rect">
            <a:avLst/>
          </a:prstGeom>
        </p:spPr>
        <p:txBody>
          <a:bodyPr>
            <a:normAutofit fontScale="32500" lnSpcReduction="20000"/>
          </a:bodyPr>
          <a:lstStyle/>
          <a:p>
            <a:pPr defTabSz="266224">
              <a:defRPr sz="4644" u="sng"/>
            </a:pPr>
            <a:r>
              <a:rPr dirty="0">
                <a:solidFill>
                  <a:schemeClr val="tx1"/>
                </a:solidFill>
              </a:rPr>
              <a:t>Risk Register Summary</a:t>
            </a:r>
          </a:p>
          <a:p>
            <a:pPr marL="230386" indent="-230386" defTabSz="266224">
              <a:buSzPct val="125000"/>
              <a:buChar char="•"/>
              <a:defRPr sz="4644"/>
            </a:pPr>
            <a:r>
              <a:rPr dirty="0">
                <a:solidFill>
                  <a:schemeClr val="tx1"/>
                </a:solidFill>
              </a:rPr>
              <a:t>Total Project Scope</a:t>
            </a:r>
          </a:p>
          <a:p>
            <a:pPr marL="230386" indent="-230386" defTabSz="266224">
              <a:buSzPct val="125000"/>
              <a:buChar char="•"/>
              <a:defRPr sz="4644"/>
            </a:pPr>
            <a:r>
              <a:rPr dirty="0">
                <a:solidFill>
                  <a:schemeClr val="tx1"/>
                </a:solidFill>
              </a:rPr>
              <a:t>Methodology Alignment</a:t>
            </a:r>
          </a:p>
          <a:p>
            <a:pPr marL="230386" indent="-230386" defTabSz="266224">
              <a:buSzPct val="125000"/>
              <a:buChar char="•"/>
              <a:defRPr sz="4644"/>
            </a:pPr>
            <a:r>
              <a:rPr dirty="0">
                <a:solidFill>
                  <a:schemeClr val="tx1"/>
                </a:solidFill>
              </a:rPr>
              <a:t>Risk Evaluation</a:t>
            </a:r>
          </a:p>
          <a:p>
            <a:pPr marL="230386" indent="-230386" defTabSz="266224">
              <a:buSzPct val="125000"/>
              <a:buChar char="•"/>
              <a:defRPr sz="4644"/>
            </a:pPr>
            <a:r>
              <a:rPr dirty="0">
                <a:solidFill>
                  <a:schemeClr val="tx1"/>
                </a:solidFill>
              </a:rPr>
              <a:t>Core Risks</a:t>
            </a:r>
          </a:p>
          <a:p>
            <a:pPr defTabSz="266224">
              <a:defRPr sz="4644"/>
            </a:pPr>
            <a:endParaRPr dirty="0">
              <a:solidFill>
                <a:schemeClr val="tx1"/>
              </a:solidFill>
            </a:endParaRPr>
          </a:p>
          <a:p>
            <a:pPr defTabSz="266224">
              <a:defRPr sz="4644" u="sng"/>
            </a:pPr>
            <a:r>
              <a:rPr dirty="0">
                <a:solidFill>
                  <a:schemeClr val="tx1"/>
                </a:solidFill>
              </a:rPr>
              <a:t>Probability-impact matrix</a:t>
            </a:r>
          </a:p>
          <a:p>
            <a:pPr defTabSz="266224">
              <a:defRPr sz="4644" b="1"/>
            </a:pPr>
            <a:r>
              <a:rPr dirty="0">
                <a:solidFill>
                  <a:schemeClr val="tx1"/>
                </a:solidFill>
              </a:rPr>
              <a:t>Severity = Probability x Impact</a:t>
            </a:r>
          </a:p>
          <a:p>
            <a:pPr defTabSz="266224">
              <a:defRPr sz="4644"/>
            </a:pPr>
            <a:r>
              <a:rPr dirty="0">
                <a:solidFill>
                  <a:schemeClr val="tx1"/>
                </a:solidFill>
              </a:rPr>
              <a:t>4 x 5 =20 (High Priority) </a:t>
            </a:r>
          </a:p>
          <a:p>
            <a:pPr defTabSz="266224">
              <a:defRPr sz="4644"/>
            </a:pPr>
            <a:r>
              <a:rPr dirty="0">
                <a:solidFill>
                  <a:schemeClr val="tx1"/>
                </a:solidFill>
              </a:rPr>
              <a:t>Critical Threat : Continuous active monitoring &amp; immediate mitigation.</a:t>
            </a:r>
          </a:p>
          <a:p>
            <a:pPr defTabSz="266224">
              <a:defRPr sz="4644"/>
            </a:pPr>
            <a:endParaRPr dirty="0">
              <a:solidFill>
                <a:schemeClr val="tx1"/>
              </a:solidFill>
            </a:endParaRPr>
          </a:p>
          <a:p>
            <a:pPr defTabSz="266224">
              <a:defRPr sz="4644" u="sng"/>
            </a:pPr>
            <a:r>
              <a:rPr dirty="0">
                <a:solidFill>
                  <a:schemeClr val="tx1"/>
                </a:solidFill>
              </a:rPr>
              <a:t>Key project risks </a:t>
            </a:r>
          </a:p>
          <a:p>
            <a:pPr marL="230386" indent="-230386" defTabSz="266224">
              <a:buSzPct val="125000"/>
              <a:buChar char="•"/>
              <a:defRPr sz="4644"/>
            </a:pPr>
            <a:r>
              <a:rPr dirty="0">
                <a:solidFill>
                  <a:schemeClr val="tx1"/>
                </a:solidFill>
              </a:rPr>
              <a:t>Regulatory Delays (Business &amp; Environmental Permits) </a:t>
            </a:r>
          </a:p>
          <a:p>
            <a:pPr marL="230386" indent="-230386" defTabSz="266224">
              <a:buSzPct val="125000"/>
              <a:buChar char="•"/>
              <a:defRPr sz="4644"/>
            </a:pPr>
            <a:r>
              <a:rPr dirty="0">
                <a:solidFill>
                  <a:schemeClr val="tx1"/>
                </a:solidFill>
              </a:rPr>
              <a:t>Digital Platform Delays &amp; Cybersecurity Breaches</a:t>
            </a:r>
          </a:p>
          <a:p>
            <a:pPr marL="230386" indent="-230386" defTabSz="266224">
              <a:buSzPct val="125000"/>
              <a:buChar char="•"/>
              <a:defRPr sz="4644"/>
            </a:pPr>
            <a:r>
              <a:rPr dirty="0">
                <a:solidFill>
                  <a:schemeClr val="tx1"/>
                </a:solidFill>
              </a:rPr>
              <a:t>Budget Overruns Beyond €900,000</a:t>
            </a:r>
          </a:p>
          <a:p>
            <a:pPr marL="230386" indent="-230386" defTabSz="266224">
              <a:buSzPct val="125000"/>
              <a:buChar char="•"/>
              <a:defRPr sz="4644"/>
            </a:pPr>
            <a:r>
              <a:rPr dirty="0">
                <a:solidFill>
                  <a:schemeClr val="tx1"/>
                </a:solidFill>
              </a:rPr>
              <a:t>Low Customer Adoption &amp; Strong Local Competition</a:t>
            </a:r>
          </a:p>
          <a:p>
            <a:pPr marL="230386" indent="-230386" defTabSz="266224">
              <a:buSzPct val="125000"/>
              <a:buChar char="•"/>
              <a:defRPr sz="4644"/>
            </a:pPr>
            <a:r>
              <a:rPr dirty="0">
                <a:solidFill>
                  <a:schemeClr val="tx1"/>
                </a:solidFill>
              </a:rPr>
              <a:t>Supply Chain &amp; Supplier Failures </a:t>
            </a:r>
          </a:p>
        </p:txBody>
      </p:sp>
      <p:pic>
        <p:nvPicPr>
          <p:cNvPr id="148" name="IMG_0131.png" descr="IMG_0131.png"/>
          <p:cNvPicPr>
            <a:picLocks noChangeAspect="1"/>
          </p:cNvPicPr>
          <p:nvPr/>
        </p:nvPicPr>
        <p:blipFill>
          <a:blip r:embed="rId2"/>
          <a:stretch>
            <a:fillRect/>
          </a:stretch>
        </p:blipFill>
        <p:spPr>
          <a:xfrm>
            <a:off x="-9758" y="858222"/>
            <a:ext cx="569721" cy="569721"/>
          </a:xfrm>
          <a:prstGeom prst="rect">
            <a:avLst/>
          </a:prstGeom>
          <a:ln w="12700">
            <a:miter lim="400000"/>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Risk Mitigation and Resource Allocation"/>
          <p:cNvSpPr txBox="1">
            <a:spLocks noGrp="1"/>
          </p:cNvSpPr>
          <p:nvPr>
            <p:ph type="ctrTitle"/>
          </p:nvPr>
        </p:nvSpPr>
        <p:spPr>
          <a:xfrm>
            <a:off x="666950" y="646979"/>
            <a:ext cx="7810500" cy="569327"/>
          </a:xfrm>
          <a:prstGeom prst="rect">
            <a:avLst/>
          </a:prstGeom>
        </p:spPr>
        <p:txBody>
          <a:bodyPr>
            <a:noAutofit/>
          </a:bodyPr>
          <a:lstStyle>
            <a:lvl1pPr defTabSz="652145">
              <a:defRPr sz="8848"/>
            </a:lvl1pPr>
          </a:lstStyle>
          <a:p>
            <a:r>
              <a:rPr sz="4000" dirty="0"/>
              <a:t>Risk Mitigation and Resource Allocation </a:t>
            </a:r>
          </a:p>
        </p:txBody>
      </p:sp>
      <p:sp>
        <p:nvSpPr>
          <p:cNvPr id="151" name="Mitigation strategies &amp; Contingency plan"/>
          <p:cNvSpPr txBox="1">
            <a:spLocks noGrp="1"/>
          </p:cNvSpPr>
          <p:nvPr>
            <p:ph type="subTitle" idx="1"/>
          </p:nvPr>
        </p:nvSpPr>
        <p:spPr>
          <a:xfrm>
            <a:off x="141548" y="1559217"/>
            <a:ext cx="8860905" cy="4367140"/>
          </a:xfrm>
          <a:prstGeom prst="rect">
            <a:avLst/>
          </a:prstGeom>
        </p:spPr>
        <p:txBody>
          <a:bodyPr/>
          <a:lstStyle>
            <a:lvl1pPr marL="714374" indent="-714374">
              <a:buSzPct val="125000"/>
              <a:buChar char="•"/>
            </a:lvl1pPr>
          </a:lstStyle>
          <a:p>
            <a:r>
              <a:rPr dirty="0"/>
              <a:t>Mitigation strategies &amp; Contingency plan </a:t>
            </a:r>
          </a:p>
        </p:txBody>
      </p:sp>
      <p:graphicFrame>
        <p:nvGraphicFramePr>
          <p:cNvPr id="152" name="Table 1"/>
          <p:cNvGraphicFramePr/>
          <p:nvPr>
            <p:extLst>
              <p:ext uri="{D42A27DB-BD31-4B8C-83A1-F6EECF244321}">
                <p14:modId xmlns:p14="http://schemas.microsoft.com/office/powerpoint/2010/main" val="3320186150"/>
              </p:ext>
            </p:extLst>
          </p:nvPr>
        </p:nvGraphicFramePr>
        <p:xfrm>
          <a:off x="526768" y="2486469"/>
          <a:ext cx="8015446" cy="3261792"/>
        </p:xfrm>
        <a:graphic>
          <a:graphicData uri="http://schemas.openxmlformats.org/drawingml/2006/table">
            <a:tbl>
              <a:tblPr firstRow="1"/>
              <a:tblGrid>
                <a:gridCol w="2316033">
                  <a:extLst>
                    <a:ext uri="{9D8B030D-6E8A-4147-A177-3AD203B41FA5}">
                      <a16:colId xmlns:a16="http://schemas.microsoft.com/office/drawing/2014/main" val="20000"/>
                    </a:ext>
                  </a:extLst>
                </a:gridCol>
                <a:gridCol w="3027598">
                  <a:extLst>
                    <a:ext uri="{9D8B030D-6E8A-4147-A177-3AD203B41FA5}">
                      <a16:colId xmlns:a16="http://schemas.microsoft.com/office/drawing/2014/main" val="20001"/>
                    </a:ext>
                  </a:extLst>
                </a:gridCol>
                <a:gridCol w="2671815">
                  <a:extLst>
                    <a:ext uri="{9D8B030D-6E8A-4147-A177-3AD203B41FA5}">
                      <a16:colId xmlns:a16="http://schemas.microsoft.com/office/drawing/2014/main" val="20002"/>
                    </a:ext>
                  </a:extLst>
                </a:gridCol>
              </a:tblGrid>
              <a:tr h="543632">
                <a:tc>
                  <a:txBody>
                    <a:bodyPr/>
                    <a:lstStyle/>
                    <a:p>
                      <a:pPr defTabSz="914400">
                        <a:tabLst>
                          <a:tab pos="1663700" algn="l"/>
                        </a:tabLst>
                        <a:defRPr sz="3200">
                          <a:sym typeface="Helvetica Neue"/>
                        </a:defRPr>
                      </a:pPr>
                      <a:endParaRPr sz="1200"/>
                    </a:p>
                  </a:txBody>
                  <a:tcPr marL="19050" marR="19050" marT="19050" marB="19050" anchor="ctr" horzOverflow="overflow">
                    <a:lnL w="12700">
                      <a:miter lim="400000"/>
                    </a:lnL>
                  </a:tcPr>
                </a:tc>
                <a:tc>
                  <a:txBody>
                    <a:bodyPr/>
                    <a:lstStyle/>
                    <a:p>
                      <a:pPr defTabSz="914400">
                        <a:tabLst>
                          <a:tab pos="1663700" algn="l"/>
                        </a:tabLst>
                        <a:defRPr sz="1800" b="0"/>
                      </a:pPr>
                      <a:r>
                        <a:rPr sz="1200" b="1">
                          <a:sym typeface="Helvetica Neue"/>
                        </a:rPr>
                        <a:t>Mitigation Strategies</a:t>
                      </a:r>
                    </a:p>
                  </a:txBody>
                  <a:tcPr marL="19050" marR="19050" marT="19050" marB="19050" anchor="ctr" horzOverflow="overflow"/>
                </a:tc>
                <a:tc>
                  <a:txBody>
                    <a:bodyPr/>
                    <a:lstStyle/>
                    <a:p>
                      <a:pPr defTabSz="914400">
                        <a:tabLst>
                          <a:tab pos="1663700" algn="l"/>
                        </a:tabLst>
                        <a:defRPr sz="1800" b="0"/>
                      </a:pPr>
                      <a:r>
                        <a:rPr sz="1200" b="1">
                          <a:sym typeface="Helvetica Neue"/>
                        </a:rPr>
                        <a:t>Contingency Plan </a:t>
                      </a:r>
                    </a:p>
                  </a:txBody>
                  <a:tcPr marL="19050" marR="19050" marT="19050" marB="19050" anchor="ctr" horzOverflow="overflow">
                    <a:lnR w="12700">
                      <a:miter lim="400000"/>
                    </a:lnR>
                  </a:tcPr>
                </a:tc>
                <a:extLst>
                  <a:ext uri="{0D108BD9-81ED-4DB2-BD59-A6C34878D82A}">
                    <a16:rowId xmlns:a16="http://schemas.microsoft.com/office/drawing/2014/main" val="10000"/>
                  </a:ext>
                </a:extLst>
              </a:tr>
              <a:tr h="543632">
                <a:tc>
                  <a:txBody>
                    <a:bodyPr/>
                    <a:lstStyle/>
                    <a:p>
                      <a:pPr algn="l" defTabSz="914400">
                        <a:defRPr sz="1800"/>
                      </a:pPr>
                      <a:r>
                        <a:rPr sz="1200">
                          <a:sym typeface="Helvetica Neue"/>
                        </a:rPr>
                        <a:t>Business Registration Delay </a:t>
                      </a:r>
                    </a:p>
                  </a:txBody>
                  <a:tcPr marL="19050" marR="19050" marT="19050" marB="19050" anchor="ctr" horzOverflow="overflow">
                    <a:lnL w="12700">
                      <a:miter lim="400000"/>
                    </a:lnL>
                  </a:tcPr>
                </a:tc>
                <a:tc>
                  <a:txBody>
                    <a:bodyPr/>
                    <a:lstStyle/>
                    <a:p>
                      <a:pPr defTabSz="914400">
                        <a:defRPr sz="1800"/>
                      </a:pPr>
                      <a:r>
                        <a:rPr sz="1200">
                          <a:sym typeface="Helvetica Neue"/>
                        </a:rPr>
                        <a:t>Hire experienced legal consultants &amp; prepare documentation in advance </a:t>
                      </a:r>
                    </a:p>
                  </a:txBody>
                  <a:tcPr marL="19050" marR="19050" marT="19050" marB="19050" anchor="ctr" horzOverflow="overflow"/>
                </a:tc>
                <a:tc>
                  <a:txBody>
                    <a:bodyPr/>
                    <a:lstStyle/>
                    <a:p>
                      <a:pPr defTabSz="914400">
                        <a:defRPr sz="1800"/>
                      </a:pPr>
                      <a:r>
                        <a:rPr sz="1200">
                          <a:sym typeface="Helvetica Neue"/>
                        </a:rPr>
                        <a:t>Escalate to legal firm &amp; prioritise tasks not requiring final registration  </a:t>
                      </a:r>
                    </a:p>
                  </a:txBody>
                  <a:tcPr marL="19050" marR="19050" marT="19050" marB="19050" anchor="ctr" horzOverflow="overflow">
                    <a:lnR w="12700">
                      <a:miter lim="400000"/>
                    </a:lnR>
                  </a:tcPr>
                </a:tc>
                <a:extLst>
                  <a:ext uri="{0D108BD9-81ED-4DB2-BD59-A6C34878D82A}">
                    <a16:rowId xmlns:a16="http://schemas.microsoft.com/office/drawing/2014/main" val="10001"/>
                  </a:ext>
                </a:extLst>
              </a:tr>
              <a:tr h="543632">
                <a:tc>
                  <a:txBody>
                    <a:bodyPr/>
                    <a:lstStyle/>
                    <a:p>
                      <a:pPr algn="l" defTabSz="914400">
                        <a:defRPr sz="1800"/>
                      </a:pPr>
                      <a:r>
                        <a:rPr sz="1200">
                          <a:sym typeface="Helvetica Neue"/>
                        </a:rPr>
                        <a:t>Environmental Compliance Approval Delay  </a:t>
                      </a:r>
                    </a:p>
                  </a:txBody>
                  <a:tcPr marL="19050" marR="19050" marT="19050" marB="19050" anchor="ctr" horzOverflow="overflow">
                    <a:lnL w="12700">
                      <a:miter lim="400000"/>
                    </a:lnL>
                  </a:tcPr>
                </a:tc>
                <a:tc>
                  <a:txBody>
                    <a:bodyPr/>
                    <a:lstStyle/>
                    <a:p>
                      <a:pPr defTabSz="914400">
                        <a:defRPr sz="1800"/>
                      </a:pPr>
                      <a:r>
                        <a:rPr sz="1200">
                          <a:sym typeface="Helvetica Neue"/>
                        </a:rPr>
                        <a:t>Thorough compliance reviews before submitting  </a:t>
                      </a:r>
                    </a:p>
                  </a:txBody>
                  <a:tcPr marL="19050" marR="19050" marT="19050" marB="19050" anchor="ctr" horzOverflow="overflow"/>
                </a:tc>
                <a:tc>
                  <a:txBody>
                    <a:bodyPr/>
                    <a:lstStyle/>
                    <a:p>
                      <a:pPr defTabSz="914400">
                        <a:defRPr sz="1800"/>
                      </a:pPr>
                      <a:r>
                        <a:rPr sz="1200">
                          <a:sym typeface="Helvetica Neue"/>
                        </a:rPr>
                        <a:t>Using external consultants or finding temporary operational alternatives </a:t>
                      </a:r>
                    </a:p>
                  </a:txBody>
                  <a:tcPr marL="19050" marR="19050" marT="19050" marB="19050" anchor="ctr" horzOverflow="overflow">
                    <a:lnR w="12700">
                      <a:miter lim="400000"/>
                    </a:lnR>
                  </a:tcPr>
                </a:tc>
                <a:extLst>
                  <a:ext uri="{0D108BD9-81ED-4DB2-BD59-A6C34878D82A}">
                    <a16:rowId xmlns:a16="http://schemas.microsoft.com/office/drawing/2014/main" val="10002"/>
                  </a:ext>
                </a:extLst>
              </a:tr>
              <a:tr h="543632">
                <a:tc>
                  <a:txBody>
                    <a:bodyPr/>
                    <a:lstStyle/>
                    <a:p>
                      <a:pPr algn="l" defTabSz="914400">
                        <a:defRPr sz="1800"/>
                      </a:pPr>
                      <a:r>
                        <a:rPr sz="1200">
                          <a:sym typeface="Helvetica Neue"/>
                        </a:rPr>
                        <a:t>Equipment Procurement Delays </a:t>
                      </a:r>
                    </a:p>
                  </a:txBody>
                  <a:tcPr marL="19050" marR="19050" marT="19050" marB="19050" anchor="ctr" horzOverflow="overflow">
                    <a:lnL w="12700">
                      <a:miter lim="400000"/>
                    </a:lnL>
                  </a:tcPr>
                </a:tc>
                <a:tc>
                  <a:txBody>
                    <a:bodyPr/>
                    <a:lstStyle/>
                    <a:p>
                      <a:pPr defTabSz="914400">
                        <a:defRPr sz="1800"/>
                      </a:pPr>
                      <a:r>
                        <a:rPr sz="1200">
                          <a:sym typeface="Helvetica Neue"/>
                        </a:rPr>
                        <a:t>Order machine early, build supplier relationships and track shipments </a:t>
                      </a:r>
                    </a:p>
                  </a:txBody>
                  <a:tcPr marL="19050" marR="19050" marT="19050" marB="19050" anchor="ctr" horzOverflow="overflow"/>
                </a:tc>
                <a:tc>
                  <a:txBody>
                    <a:bodyPr/>
                    <a:lstStyle/>
                    <a:p>
                      <a:pPr defTabSz="914400">
                        <a:defRPr sz="1800"/>
                      </a:pPr>
                      <a:r>
                        <a:rPr sz="1200" dirty="0">
                          <a:sym typeface="Helvetica Neue"/>
                        </a:rPr>
                        <a:t>Sourcing from secondary suppliers or lease temporary equipment </a:t>
                      </a:r>
                    </a:p>
                  </a:txBody>
                  <a:tcPr marL="19050" marR="19050" marT="19050" marB="19050" anchor="ctr" horzOverflow="overflow">
                    <a:lnR w="12700">
                      <a:miter lim="400000"/>
                    </a:lnR>
                  </a:tcPr>
                </a:tc>
                <a:extLst>
                  <a:ext uri="{0D108BD9-81ED-4DB2-BD59-A6C34878D82A}">
                    <a16:rowId xmlns:a16="http://schemas.microsoft.com/office/drawing/2014/main" val="10003"/>
                  </a:ext>
                </a:extLst>
              </a:tr>
              <a:tr h="543632">
                <a:tc>
                  <a:txBody>
                    <a:bodyPr/>
                    <a:lstStyle/>
                    <a:p>
                      <a:pPr algn="l" defTabSz="914400">
                        <a:defRPr sz="1800"/>
                      </a:pPr>
                      <a:r>
                        <a:rPr sz="1200">
                          <a:sym typeface="Helvetica Neue"/>
                        </a:rPr>
                        <a:t>Supplier Contract Failure </a:t>
                      </a:r>
                    </a:p>
                  </a:txBody>
                  <a:tcPr marL="19050" marR="19050" marT="19050" marB="19050" anchor="ctr" horzOverflow="overflow">
                    <a:lnL w="12700">
                      <a:miter lim="400000"/>
                    </a:lnL>
                  </a:tcPr>
                </a:tc>
                <a:tc>
                  <a:txBody>
                    <a:bodyPr/>
                    <a:lstStyle/>
                    <a:p>
                      <a:pPr defTabSz="914400">
                        <a:defRPr sz="1800"/>
                      </a:pPr>
                      <a:r>
                        <a:rPr sz="1200">
                          <a:sym typeface="Helvetica Neue"/>
                        </a:rPr>
                        <a:t>Multiple suppliers &amp; including penalty clauses in contract </a:t>
                      </a:r>
                    </a:p>
                  </a:txBody>
                  <a:tcPr marL="19050" marR="19050" marT="19050" marB="19050" anchor="ctr" horzOverflow="overflow"/>
                </a:tc>
                <a:tc>
                  <a:txBody>
                    <a:bodyPr/>
                    <a:lstStyle/>
                    <a:p>
                      <a:pPr defTabSz="914400">
                        <a:defRPr sz="1800"/>
                      </a:pPr>
                      <a:r>
                        <a:rPr sz="1200">
                          <a:sym typeface="Helvetica Neue"/>
                        </a:rPr>
                        <a:t>Having safety stocks &amp; backup vendor contracts</a:t>
                      </a:r>
                    </a:p>
                  </a:txBody>
                  <a:tcPr marL="19050" marR="19050" marT="19050" marB="19050" anchor="ctr" horzOverflow="overflow">
                    <a:lnR w="12700">
                      <a:miter lim="400000"/>
                    </a:lnR>
                  </a:tcPr>
                </a:tc>
                <a:extLst>
                  <a:ext uri="{0D108BD9-81ED-4DB2-BD59-A6C34878D82A}">
                    <a16:rowId xmlns:a16="http://schemas.microsoft.com/office/drawing/2014/main" val="10004"/>
                  </a:ext>
                </a:extLst>
              </a:tr>
              <a:tr h="543632">
                <a:tc>
                  <a:txBody>
                    <a:bodyPr/>
                    <a:lstStyle/>
                    <a:p>
                      <a:pPr algn="l" defTabSz="914400">
                        <a:defRPr sz="1800"/>
                      </a:pPr>
                      <a:r>
                        <a:rPr sz="1200">
                          <a:sym typeface="Helvetica Neue"/>
                        </a:rPr>
                        <a:t>Digital Platforms &amp; Budget Constraints </a:t>
                      </a:r>
                    </a:p>
                  </a:txBody>
                  <a:tcPr marL="19050" marR="19050" marT="19050" marB="19050" anchor="ctr" horzOverflow="overflow">
                    <a:lnL w="12700">
                      <a:miter lim="400000"/>
                    </a:lnL>
                    <a:lnB w="12700">
                      <a:miter lim="400000"/>
                    </a:lnB>
                  </a:tcPr>
                </a:tc>
                <a:tc>
                  <a:txBody>
                    <a:bodyPr/>
                    <a:lstStyle/>
                    <a:p>
                      <a:pPr defTabSz="914400">
                        <a:defRPr sz="1800"/>
                      </a:pPr>
                      <a:r>
                        <a:rPr sz="1200">
                          <a:sym typeface="Helvetica Neue"/>
                        </a:rPr>
                        <a:t>Use agile sprint reviews and monthly budget monitoring</a:t>
                      </a:r>
                    </a:p>
                  </a:txBody>
                  <a:tcPr marL="19050" marR="19050" marT="19050" marB="19050" anchor="ctr" horzOverflow="overflow">
                    <a:lnB w="12700">
                      <a:miter lim="400000"/>
                    </a:lnB>
                  </a:tcPr>
                </a:tc>
                <a:tc>
                  <a:txBody>
                    <a:bodyPr/>
                    <a:lstStyle/>
                    <a:p>
                      <a:pPr defTabSz="914400">
                        <a:defRPr sz="1800"/>
                      </a:pPr>
                      <a:r>
                        <a:rPr sz="1200" dirty="0">
                          <a:sym typeface="Helvetica Neue"/>
                        </a:rPr>
                        <a:t>Pause non-essential development &amp; </a:t>
                      </a:r>
                      <a:r>
                        <a:rPr sz="1200" dirty="0" err="1">
                          <a:sym typeface="Helvetica Neue"/>
                        </a:rPr>
                        <a:t>priortize</a:t>
                      </a:r>
                      <a:r>
                        <a:rPr sz="1200" dirty="0">
                          <a:sym typeface="Helvetica Neue"/>
                        </a:rPr>
                        <a:t> Minimum Viable Product</a:t>
                      </a:r>
                    </a:p>
                  </a:txBody>
                  <a:tcPr marL="19050" marR="19050" marT="19050" marB="19050" anchor="ctr" horzOverflow="overflow">
                    <a:lnR w="12700">
                      <a:miter lim="400000"/>
                    </a:lnR>
                    <a:lnB w="12700">
                      <a:miter lim="400000"/>
                    </a:lnB>
                  </a:tcPr>
                </a:tc>
                <a:extLst>
                  <a:ext uri="{0D108BD9-81ED-4DB2-BD59-A6C34878D82A}">
                    <a16:rowId xmlns:a16="http://schemas.microsoft.com/office/drawing/2014/main" val="10005"/>
                  </a:ext>
                </a:extLst>
              </a:tr>
            </a:tbl>
          </a:graphicData>
        </a:graphic>
      </p:graphicFrame>
      <p:pic>
        <p:nvPicPr>
          <p:cNvPr id="153" name="IMG_0131.png" descr="IMG_0131.png"/>
          <p:cNvPicPr>
            <a:picLocks noChangeAspect="1"/>
          </p:cNvPicPr>
          <p:nvPr/>
        </p:nvPicPr>
        <p:blipFill>
          <a:blip r:embed="rId2"/>
          <a:stretch>
            <a:fillRect/>
          </a:stretch>
        </p:blipFill>
        <p:spPr>
          <a:xfrm>
            <a:off x="-1946" y="847600"/>
            <a:ext cx="528714" cy="528715"/>
          </a:xfrm>
          <a:prstGeom prst="rect">
            <a:avLst/>
          </a:prstGeom>
          <a:ln w="12700">
            <a:miter lim="400000"/>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Resource Allocation"/>
          <p:cNvSpPr txBox="1">
            <a:spLocks noGrp="1"/>
          </p:cNvSpPr>
          <p:nvPr>
            <p:ph type="ctrTitle"/>
          </p:nvPr>
        </p:nvSpPr>
        <p:spPr>
          <a:xfrm>
            <a:off x="447978" y="969306"/>
            <a:ext cx="8599552" cy="614235"/>
          </a:xfrm>
          <a:prstGeom prst="rect">
            <a:avLst/>
          </a:prstGeom>
        </p:spPr>
        <p:txBody>
          <a:bodyPr>
            <a:noAutofit/>
          </a:bodyPr>
          <a:lstStyle>
            <a:lvl1pPr defTabSz="742950">
              <a:defRPr sz="10080"/>
            </a:lvl1pPr>
          </a:lstStyle>
          <a:p>
            <a:r>
              <a:rPr sz="4000" dirty="0"/>
              <a:t>Resource Allocation </a:t>
            </a:r>
          </a:p>
        </p:txBody>
      </p:sp>
      <p:sp>
        <p:nvSpPr>
          <p:cNvPr id="156" name="Human Resources…"/>
          <p:cNvSpPr txBox="1">
            <a:spLocks noGrp="1"/>
          </p:cNvSpPr>
          <p:nvPr>
            <p:ph type="subTitle" idx="1"/>
          </p:nvPr>
        </p:nvSpPr>
        <p:spPr>
          <a:xfrm>
            <a:off x="112095" y="1638977"/>
            <a:ext cx="8919811" cy="4290411"/>
          </a:xfrm>
          <a:prstGeom prst="rect">
            <a:avLst/>
          </a:prstGeom>
        </p:spPr>
        <p:txBody>
          <a:bodyPr>
            <a:normAutofit fontScale="32500" lnSpcReduction="20000"/>
          </a:bodyPr>
          <a:lstStyle/>
          <a:p>
            <a:pPr defTabSz="253841">
              <a:defRPr sz="4428" u="sng"/>
            </a:pPr>
            <a:r>
              <a:rPr dirty="0">
                <a:solidFill>
                  <a:schemeClr val="tx1"/>
                </a:solidFill>
              </a:rPr>
              <a:t>Human Resources</a:t>
            </a:r>
          </a:p>
          <a:p>
            <a:pPr marL="219670" indent="-219670" defTabSz="253841">
              <a:buSzPct val="125000"/>
              <a:buChar char="•"/>
              <a:defRPr sz="4428"/>
            </a:pPr>
            <a:r>
              <a:rPr dirty="0">
                <a:solidFill>
                  <a:schemeClr val="tx1"/>
                </a:solidFill>
              </a:rPr>
              <a:t>Operational Staff : Onboard 25 employees </a:t>
            </a:r>
          </a:p>
          <a:p>
            <a:pPr marL="219670" indent="-219670" defTabSz="253841">
              <a:buSzPct val="125000"/>
              <a:buChar char="•"/>
              <a:defRPr sz="4428"/>
            </a:pPr>
            <a:r>
              <a:rPr dirty="0">
                <a:solidFill>
                  <a:schemeClr val="tx1"/>
                </a:solidFill>
              </a:rPr>
              <a:t>Core Leadership : Managed by Project Sponsor and Project Manager </a:t>
            </a:r>
          </a:p>
          <a:p>
            <a:pPr marL="219670" indent="-219670" defTabSz="253841">
              <a:buSzPct val="125000"/>
              <a:buChar char="•"/>
              <a:defRPr sz="4428"/>
            </a:pPr>
            <a:r>
              <a:rPr dirty="0">
                <a:solidFill>
                  <a:schemeClr val="tx1"/>
                </a:solidFill>
              </a:rPr>
              <a:t>Execution Team : Functional Managers and Project Team Members supported by Legal Consultants</a:t>
            </a:r>
          </a:p>
          <a:p>
            <a:pPr defTabSz="253841">
              <a:defRPr sz="4428"/>
            </a:pPr>
            <a:endParaRPr dirty="0">
              <a:solidFill>
                <a:schemeClr val="tx1"/>
              </a:solidFill>
            </a:endParaRPr>
          </a:p>
          <a:p>
            <a:pPr defTabSz="253841">
              <a:defRPr sz="4428" u="sng"/>
            </a:pPr>
            <a:r>
              <a:rPr dirty="0">
                <a:solidFill>
                  <a:schemeClr val="tx1"/>
                </a:solidFill>
              </a:rPr>
              <a:t>Financial Resources</a:t>
            </a:r>
          </a:p>
          <a:p>
            <a:pPr marL="219670" indent="-219670" defTabSz="253841">
              <a:buSzPct val="125000"/>
              <a:buChar char="•"/>
              <a:defRPr sz="4428"/>
            </a:pPr>
            <a:r>
              <a:rPr dirty="0">
                <a:solidFill>
                  <a:schemeClr val="tx1"/>
                </a:solidFill>
              </a:rPr>
              <a:t>Market &amp; Customer Research : €100,000 (Months 1-6) </a:t>
            </a:r>
          </a:p>
          <a:p>
            <a:pPr marL="219670" indent="-219670" defTabSz="253841">
              <a:buSzPct val="125000"/>
              <a:buChar char="•"/>
              <a:defRPr sz="4428"/>
            </a:pPr>
            <a:r>
              <a:rPr dirty="0">
                <a:solidFill>
                  <a:schemeClr val="tx1"/>
                </a:solidFill>
              </a:rPr>
              <a:t>Agile Digital Platform Development : €300,000 ( Months 6-12) </a:t>
            </a:r>
          </a:p>
          <a:p>
            <a:pPr marL="219670" indent="-219670" defTabSz="253841">
              <a:buSzPct val="125000"/>
              <a:buChar char="•"/>
              <a:defRPr sz="4428"/>
            </a:pPr>
            <a:r>
              <a:rPr dirty="0">
                <a:solidFill>
                  <a:schemeClr val="tx1"/>
                </a:solidFill>
              </a:rPr>
              <a:t>Workforce Recruitment &amp; Training : €200,000 (Months 10-15) </a:t>
            </a:r>
          </a:p>
          <a:p>
            <a:pPr marL="219670" indent="-219670" defTabSz="253841">
              <a:buSzPct val="125000"/>
              <a:buChar char="•"/>
              <a:defRPr sz="4428"/>
            </a:pPr>
            <a:r>
              <a:rPr dirty="0">
                <a:solidFill>
                  <a:schemeClr val="tx1"/>
                </a:solidFill>
              </a:rPr>
              <a:t>Production Testing &amp; Operational Readiness: €100,000 ( Months 16-20) </a:t>
            </a:r>
          </a:p>
          <a:p>
            <a:pPr marL="219670" indent="-219670" defTabSz="253841">
              <a:buSzPct val="125000"/>
              <a:buChar char="•"/>
              <a:defRPr sz="4428"/>
            </a:pPr>
            <a:r>
              <a:rPr dirty="0">
                <a:solidFill>
                  <a:schemeClr val="tx1"/>
                </a:solidFill>
              </a:rPr>
              <a:t>Market Launch &amp; Customer Acquisition : €200,000 ( months 21-24) </a:t>
            </a:r>
          </a:p>
          <a:p>
            <a:pPr defTabSz="253841">
              <a:defRPr sz="4428"/>
            </a:pPr>
            <a:endParaRPr dirty="0">
              <a:solidFill>
                <a:schemeClr val="tx1"/>
              </a:solidFill>
            </a:endParaRPr>
          </a:p>
          <a:p>
            <a:pPr defTabSz="253841">
              <a:defRPr sz="4428" u="sng"/>
            </a:pPr>
            <a:r>
              <a:rPr dirty="0">
                <a:solidFill>
                  <a:schemeClr val="tx1"/>
                </a:solidFill>
              </a:rPr>
              <a:t>Technical and Material Resources </a:t>
            </a:r>
          </a:p>
          <a:p>
            <a:pPr marL="219670" indent="-219670" defTabSz="253841">
              <a:buSzPct val="125000"/>
              <a:buChar char="•"/>
              <a:defRPr sz="4428"/>
            </a:pPr>
            <a:r>
              <a:rPr dirty="0">
                <a:solidFill>
                  <a:schemeClr val="tx1"/>
                </a:solidFill>
              </a:rPr>
              <a:t>Digital ordering platforms : “EcoPack Connect” link suppliers with business clients</a:t>
            </a:r>
          </a:p>
          <a:p>
            <a:pPr marL="219670" indent="-219670" defTabSz="253841">
              <a:buSzPct val="125000"/>
              <a:buChar char="•"/>
              <a:defRPr sz="4428"/>
            </a:pPr>
            <a:r>
              <a:rPr dirty="0">
                <a:solidFill>
                  <a:schemeClr val="tx1"/>
                </a:solidFill>
              </a:rPr>
              <a:t>Automated Production system : to optimize material usage and reduce paper waste  </a:t>
            </a:r>
          </a:p>
          <a:p>
            <a:pPr marL="219670" indent="-219670" defTabSz="253841">
              <a:buSzPct val="125000"/>
              <a:buChar char="•"/>
              <a:defRPr sz="4428"/>
            </a:pPr>
            <a:r>
              <a:rPr dirty="0">
                <a:solidFill>
                  <a:schemeClr val="tx1"/>
                </a:solidFill>
              </a:rPr>
              <a:t>Jira platforms : Manages workflows, tasks, backlogs and sprint tracking</a:t>
            </a:r>
          </a:p>
        </p:txBody>
      </p:sp>
      <p:pic>
        <p:nvPicPr>
          <p:cNvPr id="157" name="IMG_0131.png" descr="IMG_0131.png"/>
          <p:cNvPicPr>
            <a:picLocks noChangeAspect="1"/>
          </p:cNvPicPr>
          <p:nvPr/>
        </p:nvPicPr>
        <p:blipFill>
          <a:blip r:embed="rId2"/>
          <a:stretch>
            <a:fillRect/>
          </a:stretch>
        </p:blipFill>
        <p:spPr>
          <a:xfrm>
            <a:off x="-1947" y="855411"/>
            <a:ext cx="532620" cy="532620"/>
          </a:xfrm>
          <a:prstGeom prst="rect">
            <a:avLst/>
          </a:prstGeom>
          <a:ln w="12700">
            <a:miter lim="400000"/>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457200" y="0"/>
            <a:ext cx="8229600" cy="821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3600" b="1">
                <a:solidFill>
                  <a:schemeClr val="dk1"/>
                </a:solidFill>
              </a:rPr>
              <a:t>Critical Evaluation</a:t>
            </a:r>
            <a:endParaRPr sz="3600" b="1"/>
          </a:p>
        </p:txBody>
      </p:sp>
      <p:sp>
        <p:nvSpPr>
          <p:cNvPr id="124" name="Google Shape;124;p18"/>
          <p:cNvSpPr txBox="1">
            <a:spLocks noGrp="1"/>
          </p:cNvSpPr>
          <p:nvPr>
            <p:ph type="body" idx="1"/>
          </p:nvPr>
        </p:nvSpPr>
        <p:spPr>
          <a:xfrm>
            <a:off x="457200" y="1600200"/>
            <a:ext cx="4204500" cy="5131500"/>
          </a:xfrm>
          <a:prstGeom prst="rect">
            <a:avLst/>
          </a:prstGeom>
          <a:noFill/>
          <a:ln>
            <a:noFill/>
          </a:ln>
        </p:spPr>
        <p:txBody>
          <a:bodyPr spcFirstLastPara="1" wrap="square" lIns="91425" tIns="45700" rIns="91425" bIns="45700" anchor="t" anchorCtr="0">
            <a:normAutofit/>
          </a:bodyPr>
          <a:lstStyle/>
          <a:p>
            <a:pPr marL="342900" lvl="0" indent="-406400" algn="l" rtl="0">
              <a:lnSpc>
                <a:spcPct val="150000"/>
              </a:lnSpc>
              <a:spcBef>
                <a:spcPts val="640"/>
              </a:spcBef>
              <a:spcAft>
                <a:spcPts val="0"/>
              </a:spcAft>
              <a:buSzPts val="2800"/>
              <a:buChar char="•"/>
            </a:pPr>
            <a:r>
              <a:rPr lang="en-US" sz="2800"/>
              <a:t>Analysis of performance of the project using Jira Reports.</a:t>
            </a:r>
            <a:endParaRPr sz="2800"/>
          </a:p>
          <a:p>
            <a:pPr marL="342900" lvl="0" indent="0" algn="l" rtl="0">
              <a:lnSpc>
                <a:spcPct val="150000"/>
              </a:lnSpc>
              <a:spcBef>
                <a:spcPts val="640"/>
              </a:spcBef>
              <a:spcAft>
                <a:spcPts val="0"/>
              </a:spcAft>
              <a:buNone/>
            </a:pPr>
            <a:endParaRPr sz="2800"/>
          </a:p>
          <a:p>
            <a:pPr marL="342900" lvl="0" indent="-406400" algn="l" rtl="0">
              <a:lnSpc>
                <a:spcPct val="150000"/>
              </a:lnSpc>
              <a:spcBef>
                <a:spcPts val="640"/>
              </a:spcBef>
              <a:spcAft>
                <a:spcPts val="0"/>
              </a:spcAft>
              <a:buSzPts val="2800"/>
              <a:buChar char="•"/>
            </a:pPr>
            <a:r>
              <a:rPr lang="en-US" sz="2800"/>
              <a:t>Workload analysis and project status tracking.</a:t>
            </a:r>
            <a:endParaRPr sz="2800"/>
          </a:p>
        </p:txBody>
      </p:sp>
      <p:pic>
        <p:nvPicPr>
          <p:cNvPr id="125" name="Google Shape;125;p18" descr="atlassian-net-jira-core-projects-EBEIG-reports-2026-06-20-13_35_27.png"/>
          <p:cNvPicPr preferRelativeResize="0"/>
          <p:nvPr/>
        </p:nvPicPr>
        <p:blipFill rotWithShape="1">
          <a:blip r:embed="rId3">
            <a:alphaModFix/>
          </a:blip>
          <a:srcRect/>
          <a:stretch/>
        </p:blipFill>
        <p:spPr>
          <a:xfrm>
            <a:off x="4847469" y="908775"/>
            <a:ext cx="4008402" cy="5822925"/>
          </a:xfrm>
          <a:prstGeom prst="rect">
            <a:avLst/>
          </a:prstGeom>
          <a:noFill/>
          <a:ln>
            <a:noFill/>
          </a:ln>
        </p:spPr>
      </p:pic>
      <p:pic>
        <p:nvPicPr>
          <p:cNvPr id="126" name="Google Shape;126;p18"/>
          <p:cNvPicPr preferRelativeResize="0"/>
          <p:nvPr/>
        </p:nvPicPr>
        <p:blipFill rotWithShape="1">
          <a:blip r:embed="rId4">
            <a:alphaModFix/>
          </a:blip>
          <a:srcRect/>
          <a:stretch/>
        </p:blipFill>
        <p:spPr>
          <a:xfrm>
            <a:off x="3" y="1"/>
            <a:ext cx="1095375" cy="1095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47338"/>
          </a:xfrm>
        </p:spPr>
        <p:txBody>
          <a:bodyPr>
            <a:normAutofit fontScale="90000"/>
          </a:bodyPr>
          <a:lstStyle/>
          <a:p>
            <a:r>
              <a:rPr dirty="0"/>
              <a:t>Conclusion</a:t>
            </a:r>
          </a:p>
        </p:txBody>
      </p:sp>
      <p:sp>
        <p:nvSpPr>
          <p:cNvPr id="3" name="Content Placeholder 2"/>
          <p:cNvSpPr>
            <a:spLocks noGrp="1"/>
          </p:cNvSpPr>
          <p:nvPr>
            <p:ph idx="1"/>
          </p:nvPr>
        </p:nvSpPr>
        <p:spPr>
          <a:xfrm>
            <a:off x="457200" y="1370014"/>
            <a:ext cx="8229600" cy="4756150"/>
          </a:xfrm>
        </p:spPr>
        <p:txBody>
          <a:bodyPr>
            <a:normAutofit/>
          </a:bodyPr>
          <a:lstStyle/>
          <a:p>
            <a:r>
              <a:rPr lang="en-US" sz="1400" dirty="0"/>
              <a:t>In conclusion, the successful delivery of the Ecopack project will depend on strong leadership, stakeholder partnership, continuous development, and adaption of changing market conditions. The project has the potential to strengthen Ecopack's competitive position, achieve sustainable business growth, and establish a strong foundation for future international expansion.</a:t>
            </a:r>
          </a:p>
          <a:p>
            <a:endParaRPr lang="en-US" sz="1400" dirty="0"/>
          </a:p>
          <a:p>
            <a:r>
              <a:rPr lang="en-US" sz="1400" dirty="0"/>
              <a:t>In this report &amp; Presentation, main project management principles have been applied to define project objectives, scope, stakeholder engagement strategies, risk management processes, resource allocation, schedule planning, and cost control measures. Agile project management methodology provides the flexibility required to manage changing business requirements, particularly during the development of the digital ordering platform.</a:t>
            </a:r>
            <a:endParaRPr sz="1400" dirty="0"/>
          </a:p>
        </p:txBody>
      </p:sp>
      <p:pic>
        <p:nvPicPr>
          <p:cNvPr id="4" name="Picture 3">
            <a:extLst>
              <a:ext uri="{FF2B5EF4-FFF2-40B4-BE49-F238E27FC236}">
                <a16:creationId xmlns:a16="http://schemas.microsoft.com/office/drawing/2014/main" id="{513784DD-64D8-7D7D-BAB9-95410EB9CDD9}"/>
              </a:ext>
            </a:extLst>
          </p:cNvPr>
          <p:cNvPicPr/>
          <p:nvPr/>
        </p:nvPicPr>
        <p:blipFill>
          <a:blip r:embed="rId2"/>
          <a:stretch>
            <a:fillRect/>
          </a:stretch>
        </p:blipFill>
        <p:spPr>
          <a:xfrm>
            <a:off x="215153" y="92076"/>
            <a:ext cx="1095375" cy="10953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1398</TotalTime>
  <Words>1375</Words>
  <Application>Microsoft Office PowerPoint</Application>
  <PresentationFormat>On-screen Show (4:3)</PresentationFormat>
  <Paragraphs>182</Paragraphs>
  <Slides>15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Helvetica Neue</vt:lpstr>
      <vt:lpstr>Office Theme</vt:lpstr>
      <vt:lpstr>    GISMA University of Applied Sciences  EcoPack Business Expansion in Germany </vt:lpstr>
      <vt:lpstr>Introduction</vt:lpstr>
      <vt:lpstr>Project Overview</vt:lpstr>
      <vt:lpstr>Strategic Relevance</vt:lpstr>
      <vt:lpstr>Work Breakdown Structure (WBS)</vt:lpstr>
      <vt:lpstr>Project Schedule</vt:lpstr>
      <vt:lpstr>Critical Path Analysis</vt:lpstr>
      <vt:lpstr>Communication Strategy</vt:lpstr>
      <vt:lpstr>Project Management Approach- AGILE </vt:lpstr>
      <vt:lpstr>Stakeholder Identification and Analysis </vt:lpstr>
      <vt:lpstr>Risk Assessment </vt:lpstr>
      <vt:lpstr>Risk Mitigation and Resource Allocation </vt:lpstr>
      <vt:lpstr>Resource Allocation </vt:lpstr>
      <vt:lpstr>Critical Evaluation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Aniket Sonu</dc:creator>
  <cp:keywords/>
  <dc:description>generated using python-pptx</dc:description>
  <cp:lastModifiedBy>Aniket Sonu</cp:lastModifiedBy>
  <cp:revision>7</cp:revision>
  <dcterms:created xsi:type="dcterms:W3CDTF">2013-01-27T09:14:16Z</dcterms:created>
  <dcterms:modified xsi:type="dcterms:W3CDTF">2026-06-21T08:32:59Z</dcterms:modified>
  <cp:category/>
</cp:coreProperties>
</file>